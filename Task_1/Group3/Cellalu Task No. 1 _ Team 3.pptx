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Pompiere" charset="1" panose="02000000000000000000"/>
      <p:regular r:id="rId30"/>
    </p:embeddedFont>
    <p:embeddedFont>
      <p:font typeface="Handy Casual" charset="1" panose="00000500000000000000"/>
      <p:regular r:id="rId31"/>
    </p:embeddedFont>
    <p:embeddedFont>
      <p:font typeface="Krabuler" charset="1" panose="000005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64.png" Type="http://schemas.openxmlformats.org/officeDocument/2006/relationships/image"/><Relationship Id="rId9" Target="../media/image6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2" Target="../media/image66.png" Type="http://schemas.openxmlformats.org/officeDocument/2006/relationships/image"/><Relationship Id="rId3" Target="../media/image67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9223231" y="8895219"/>
            <a:ext cx="11552272" cy="1596314"/>
          </a:xfrm>
          <a:custGeom>
            <a:avLst/>
            <a:gdLst/>
            <a:ahLst/>
            <a:cxnLst/>
            <a:rect r="r" b="b" t="t" l="l"/>
            <a:pathLst>
              <a:path h="1596314" w="11552272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649686" y="-149539"/>
            <a:ext cx="11546413" cy="1595504"/>
          </a:xfrm>
          <a:custGeom>
            <a:avLst/>
            <a:gdLst/>
            <a:ahLst/>
            <a:cxnLst/>
            <a:rect r="r" b="b" t="t" l="l"/>
            <a:pathLst>
              <a:path h="1595504" w="11546413">
                <a:moveTo>
                  <a:pt x="11546413" y="0"/>
                </a:moveTo>
                <a:lnTo>
                  <a:pt x="0" y="0"/>
                </a:lnTo>
                <a:lnTo>
                  <a:pt x="0" y="1595505"/>
                </a:lnTo>
                <a:lnTo>
                  <a:pt x="11546413" y="1595505"/>
                </a:lnTo>
                <a:lnTo>
                  <a:pt x="115464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60641">
            <a:off x="2665669" y="1714596"/>
            <a:ext cx="1737858" cy="1583030"/>
          </a:xfrm>
          <a:custGeom>
            <a:avLst/>
            <a:gdLst/>
            <a:ahLst/>
            <a:cxnLst/>
            <a:rect r="r" b="b" t="t" l="l"/>
            <a:pathLst>
              <a:path h="1583030" w="1737858">
                <a:moveTo>
                  <a:pt x="0" y="0"/>
                </a:moveTo>
                <a:lnTo>
                  <a:pt x="1737858" y="0"/>
                </a:lnTo>
                <a:lnTo>
                  <a:pt x="1737858" y="1583031"/>
                </a:lnTo>
                <a:lnTo>
                  <a:pt x="0" y="1583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4508551"/>
            <a:ext cx="3713137" cy="4248440"/>
          </a:xfrm>
          <a:custGeom>
            <a:avLst/>
            <a:gdLst/>
            <a:ahLst/>
            <a:cxnLst/>
            <a:rect r="r" b="b" t="t" l="l"/>
            <a:pathLst>
              <a:path h="4248440" w="3713137">
                <a:moveTo>
                  <a:pt x="0" y="0"/>
                </a:moveTo>
                <a:lnTo>
                  <a:pt x="3713137" y="0"/>
                </a:lnTo>
                <a:lnTo>
                  <a:pt x="3713137" y="4248440"/>
                </a:lnTo>
                <a:lnTo>
                  <a:pt x="0" y="42484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86815" y="3096309"/>
            <a:ext cx="7069036" cy="145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808"/>
              </a:lnSpc>
            </a:pPr>
            <a:r>
              <a:rPr lang="en-US" sz="10917" spc="240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Task No.1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33199" y="5877591"/>
            <a:ext cx="11029225" cy="227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12"/>
              </a:lnSpc>
            </a:pPr>
            <a:r>
              <a:rPr lang="en-US" sz="17184" spc="189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CELLALU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-9379677">
            <a:off x="9840552" y="1534152"/>
            <a:ext cx="3617028" cy="3833073"/>
          </a:xfrm>
          <a:custGeom>
            <a:avLst/>
            <a:gdLst/>
            <a:ahLst/>
            <a:cxnLst/>
            <a:rect r="r" b="b" t="t" l="l"/>
            <a:pathLst>
              <a:path h="3833073" w="3617028">
                <a:moveTo>
                  <a:pt x="0" y="3833073"/>
                </a:moveTo>
                <a:lnTo>
                  <a:pt x="3617027" y="3833073"/>
                </a:lnTo>
                <a:lnTo>
                  <a:pt x="3617027" y="0"/>
                </a:lnTo>
                <a:lnTo>
                  <a:pt x="0" y="0"/>
                </a:lnTo>
                <a:lnTo>
                  <a:pt x="0" y="383307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399026">
            <a:off x="15284165" y="2839405"/>
            <a:ext cx="1719464" cy="2465181"/>
          </a:xfrm>
          <a:custGeom>
            <a:avLst/>
            <a:gdLst/>
            <a:ahLst/>
            <a:cxnLst/>
            <a:rect r="r" b="b" t="t" l="l"/>
            <a:pathLst>
              <a:path h="2465181" w="1719464">
                <a:moveTo>
                  <a:pt x="0" y="0"/>
                </a:moveTo>
                <a:lnTo>
                  <a:pt x="1719464" y="0"/>
                </a:lnTo>
                <a:lnTo>
                  <a:pt x="1719464" y="2465180"/>
                </a:lnTo>
                <a:lnTo>
                  <a:pt x="0" y="24651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91383" y="1019175"/>
            <a:ext cx="522504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by Mohamed Hany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7784" y="9360318"/>
            <a:ext cx="2157889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6th Feb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6288608" y="849567"/>
            <a:ext cx="6927975" cy="8739418"/>
          </a:xfrm>
          <a:custGeom>
            <a:avLst/>
            <a:gdLst/>
            <a:ahLst/>
            <a:cxnLst/>
            <a:rect r="r" b="b" t="t" l="l"/>
            <a:pathLst>
              <a:path h="8739418" w="6927975">
                <a:moveTo>
                  <a:pt x="0" y="0"/>
                </a:moveTo>
                <a:lnTo>
                  <a:pt x="6927974" y="0"/>
                </a:lnTo>
                <a:lnTo>
                  <a:pt x="6927974" y="8739418"/>
                </a:lnTo>
                <a:lnTo>
                  <a:pt x="0" y="8739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20756" y="1028700"/>
            <a:ext cx="4584113" cy="3975676"/>
          </a:xfrm>
          <a:custGeom>
            <a:avLst/>
            <a:gdLst/>
            <a:ahLst/>
            <a:cxnLst/>
            <a:rect r="r" b="b" t="t" l="l"/>
            <a:pathLst>
              <a:path h="3975676" w="4584113">
                <a:moveTo>
                  <a:pt x="0" y="0"/>
                </a:moveTo>
                <a:lnTo>
                  <a:pt x="4584113" y="0"/>
                </a:lnTo>
                <a:lnTo>
                  <a:pt x="4584113" y="3975676"/>
                </a:lnTo>
                <a:lnTo>
                  <a:pt x="0" y="3975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810814">
            <a:off x="2770828" y="2657404"/>
            <a:ext cx="3535128" cy="108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4"/>
              </a:lnSpc>
            </a:pPr>
            <a:r>
              <a:rPr lang="en-US" sz="8216" spc="180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Agenda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83345" y="3094063"/>
            <a:ext cx="7135263" cy="491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0501" indent="-525250" lvl="1">
              <a:lnSpc>
                <a:spcPts val="6471"/>
              </a:lnSpc>
              <a:buAutoNum type="arabicPeriod" startAt="1"/>
            </a:pPr>
            <a:r>
              <a:rPr lang="en-US" sz="4865" spc="107">
                <a:solidFill>
                  <a:srgbClr val="FFFFFF"/>
                </a:solidFill>
                <a:latin typeface="Krabuler"/>
                <a:ea typeface="Krabuler"/>
                <a:cs typeface="Krabuler"/>
                <a:sym typeface="Krabuler"/>
              </a:rPr>
              <a:t>Introduction</a:t>
            </a:r>
          </a:p>
          <a:p>
            <a:pPr algn="l" marL="1050501" indent="-525250" lvl="1">
              <a:lnSpc>
                <a:spcPts val="6471"/>
              </a:lnSpc>
              <a:buAutoNum type="arabicPeriod" startAt="1"/>
            </a:pPr>
            <a:r>
              <a:rPr lang="en-US" sz="4865" spc="107">
                <a:solidFill>
                  <a:srgbClr val="FFFFFF"/>
                </a:solidFill>
                <a:latin typeface="Krabuler"/>
                <a:ea typeface="Krabuler"/>
                <a:cs typeface="Krabuler"/>
                <a:sym typeface="Krabuler"/>
              </a:rPr>
              <a:t>The task</a:t>
            </a:r>
          </a:p>
          <a:p>
            <a:pPr algn="l" marL="1050501" indent="-525250" lvl="1">
              <a:lnSpc>
                <a:spcPts val="6471"/>
              </a:lnSpc>
              <a:buAutoNum type="arabicPeriod" startAt="1"/>
            </a:pPr>
            <a:r>
              <a:rPr lang="en-US" sz="4865" spc="107">
                <a:solidFill>
                  <a:srgbClr val="FFFFFF"/>
                </a:solidFill>
                <a:latin typeface="Krabuler"/>
                <a:ea typeface="Krabuler"/>
                <a:cs typeface="Krabuler"/>
                <a:sym typeface="Krabuler"/>
              </a:rPr>
              <a:t>EDA brief</a:t>
            </a:r>
          </a:p>
          <a:p>
            <a:pPr algn="l" marL="1050501" indent="-525250" lvl="1">
              <a:lnSpc>
                <a:spcPts val="6471"/>
              </a:lnSpc>
              <a:buAutoNum type="arabicPeriod" startAt="1"/>
            </a:pPr>
            <a:r>
              <a:rPr lang="en-US" sz="4865" spc="107">
                <a:solidFill>
                  <a:srgbClr val="FFFFFF"/>
                </a:solidFill>
                <a:latin typeface="Krabuler"/>
                <a:ea typeface="Krabuler"/>
                <a:cs typeface="Krabuler"/>
                <a:sym typeface="Krabuler"/>
              </a:rPr>
              <a:t>Visuals</a:t>
            </a:r>
          </a:p>
          <a:p>
            <a:pPr algn="l" marL="1050501" indent="-525250" lvl="1">
              <a:lnSpc>
                <a:spcPts val="6471"/>
              </a:lnSpc>
              <a:buAutoNum type="arabicPeriod" startAt="1"/>
            </a:pPr>
            <a:r>
              <a:rPr lang="en-US" sz="4865" spc="107">
                <a:solidFill>
                  <a:srgbClr val="FFFFFF"/>
                </a:solidFill>
                <a:latin typeface="Krabuler"/>
                <a:ea typeface="Krabuler"/>
                <a:cs typeface="Krabuler"/>
                <a:sym typeface="Krabuler"/>
              </a:rPr>
              <a:t>Conclusions</a:t>
            </a:r>
          </a:p>
          <a:p>
            <a:pPr algn="l">
              <a:lnSpc>
                <a:spcPts val="6471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true" rot="787682">
            <a:off x="1397312" y="5080667"/>
            <a:ext cx="3435988" cy="3641221"/>
          </a:xfrm>
          <a:custGeom>
            <a:avLst/>
            <a:gdLst/>
            <a:ahLst/>
            <a:cxnLst/>
            <a:rect r="r" b="b" t="t" l="l"/>
            <a:pathLst>
              <a:path h="3641221" w="3435988">
                <a:moveTo>
                  <a:pt x="0" y="3641220"/>
                </a:moveTo>
                <a:lnTo>
                  <a:pt x="3435988" y="3641220"/>
                </a:lnTo>
                <a:lnTo>
                  <a:pt x="3435988" y="0"/>
                </a:lnTo>
                <a:lnTo>
                  <a:pt x="0" y="0"/>
                </a:lnTo>
                <a:lnTo>
                  <a:pt x="0" y="364122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568932">
            <a:off x="15282144" y="5728523"/>
            <a:ext cx="1443297" cy="2069242"/>
          </a:xfrm>
          <a:custGeom>
            <a:avLst/>
            <a:gdLst/>
            <a:ahLst/>
            <a:cxnLst/>
            <a:rect r="r" b="b" t="t" l="l"/>
            <a:pathLst>
              <a:path h="2069242" w="1443297">
                <a:moveTo>
                  <a:pt x="0" y="0"/>
                </a:moveTo>
                <a:lnTo>
                  <a:pt x="1443297" y="0"/>
                </a:lnTo>
                <a:lnTo>
                  <a:pt x="1443297" y="2069242"/>
                </a:lnTo>
                <a:lnTo>
                  <a:pt x="0" y="2069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190582">
            <a:off x="14034320" y="781506"/>
            <a:ext cx="1514128" cy="1379233"/>
          </a:xfrm>
          <a:custGeom>
            <a:avLst/>
            <a:gdLst/>
            <a:ahLst/>
            <a:cxnLst/>
            <a:rect r="r" b="b" t="t" l="l"/>
            <a:pathLst>
              <a:path h="1379233" w="1514128">
                <a:moveTo>
                  <a:pt x="0" y="0"/>
                </a:moveTo>
                <a:lnTo>
                  <a:pt x="1514129" y="0"/>
                </a:lnTo>
                <a:lnTo>
                  <a:pt x="1514129" y="1379234"/>
                </a:lnTo>
                <a:lnTo>
                  <a:pt x="0" y="1379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52595" y="-301411"/>
            <a:ext cx="12710840" cy="1756407"/>
          </a:xfrm>
          <a:custGeom>
            <a:avLst/>
            <a:gdLst/>
            <a:ahLst/>
            <a:cxnLst/>
            <a:rect r="r" b="b" t="t" l="l"/>
            <a:pathLst>
              <a:path h="1756407" w="12710840">
                <a:moveTo>
                  <a:pt x="0" y="0"/>
                </a:moveTo>
                <a:lnTo>
                  <a:pt x="12710840" y="0"/>
                </a:lnTo>
                <a:lnTo>
                  <a:pt x="12710840" y="1756407"/>
                </a:lnTo>
                <a:lnTo>
                  <a:pt x="0" y="1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-5599813" y="8633321"/>
            <a:ext cx="13959219" cy="1928910"/>
          </a:xfrm>
          <a:custGeom>
            <a:avLst/>
            <a:gdLst/>
            <a:ahLst/>
            <a:cxnLst/>
            <a:rect r="r" b="b" t="t" l="l"/>
            <a:pathLst>
              <a:path h="1928910" w="13959219">
                <a:moveTo>
                  <a:pt x="0" y="0"/>
                </a:moveTo>
                <a:lnTo>
                  <a:pt x="13959219" y="0"/>
                </a:lnTo>
                <a:lnTo>
                  <a:pt x="13959219" y="1928910"/>
                </a:lnTo>
                <a:lnTo>
                  <a:pt x="0" y="1928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7789" y="4316554"/>
            <a:ext cx="5920958" cy="298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sz="393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This is the first task delivered as part of Machine learning Internship to Cellula.</a:t>
            </a:r>
          </a:p>
          <a:p>
            <a:pPr algn="l">
              <a:lnSpc>
                <a:spcPts val="4716"/>
              </a:lnSpc>
            </a:pPr>
          </a:p>
          <a:p>
            <a:pPr algn="l">
              <a:lnSpc>
                <a:spcPts val="4716"/>
              </a:lnSpc>
              <a:spcBef>
                <a:spcPct val="0"/>
              </a:spcBef>
            </a:pPr>
            <a:r>
              <a:rPr lang="en-US" sz="393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Supervised by: Toqa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08091" y="1028700"/>
            <a:ext cx="1488455" cy="1291398"/>
          </a:xfrm>
          <a:custGeom>
            <a:avLst/>
            <a:gdLst/>
            <a:ahLst/>
            <a:cxnLst/>
            <a:rect r="r" b="b" t="t" l="l"/>
            <a:pathLst>
              <a:path h="1291398" w="1488455">
                <a:moveTo>
                  <a:pt x="0" y="0"/>
                </a:moveTo>
                <a:lnTo>
                  <a:pt x="1488455" y="0"/>
                </a:lnTo>
                <a:lnTo>
                  <a:pt x="1488455" y="1291398"/>
                </a:lnTo>
                <a:lnTo>
                  <a:pt x="0" y="1291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435657">
            <a:off x="12909774" y="7270970"/>
            <a:ext cx="3750634" cy="3974660"/>
          </a:xfrm>
          <a:custGeom>
            <a:avLst/>
            <a:gdLst/>
            <a:ahLst/>
            <a:cxnLst/>
            <a:rect r="r" b="b" t="t" l="l"/>
            <a:pathLst>
              <a:path h="3974660" w="3750634">
                <a:moveTo>
                  <a:pt x="0" y="3974660"/>
                </a:moveTo>
                <a:lnTo>
                  <a:pt x="3750634" y="3974660"/>
                </a:lnTo>
                <a:lnTo>
                  <a:pt x="3750634" y="0"/>
                </a:lnTo>
                <a:lnTo>
                  <a:pt x="0" y="0"/>
                </a:lnTo>
                <a:lnTo>
                  <a:pt x="0" y="39746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766543"/>
            <a:ext cx="7518097" cy="3989194"/>
          </a:xfrm>
          <a:custGeom>
            <a:avLst/>
            <a:gdLst/>
            <a:ahLst/>
            <a:cxnLst/>
            <a:rect r="r" b="b" t="t" l="l"/>
            <a:pathLst>
              <a:path h="3989194" w="7518097">
                <a:moveTo>
                  <a:pt x="0" y="0"/>
                </a:moveTo>
                <a:lnTo>
                  <a:pt x="7518097" y="0"/>
                </a:lnTo>
                <a:lnTo>
                  <a:pt x="7518097" y="3989194"/>
                </a:lnTo>
                <a:lnTo>
                  <a:pt x="0" y="39891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77789" y="2757018"/>
            <a:ext cx="7307783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  <a:spcBef>
                <a:spcPct val="0"/>
              </a:spcBef>
            </a:pPr>
            <a:r>
              <a:rPr lang="en-US" sz="879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07510" y="1797441"/>
            <a:ext cx="7699617" cy="151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  <a:spcBef>
                <a:spcPct val="0"/>
              </a:spcBef>
            </a:pPr>
            <a:r>
              <a:rPr lang="en-US" sz="879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The team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051433" y="-68578"/>
            <a:ext cx="10083238" cy="1393320"/>
          </a:xfrm>
          <a:custGeom>
            <a:avLst/>
            <a:gdLst/>
            <a:ahLst/>
            <a:cxnLst/>
            <a:rect r="r" b="b" t="t" l="l"/>
            <a:pathLst>
              <a:path h="1393320" w="10083238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4098675" y="8905418"/>
            <a:ext cx="9279203" cy="2078243"/>
          </a:xfrm>
          <a:custGeom>
            <a:avLst/>
            <a:gdLst/>
            <a:ahLst/>
            <a:cxnLst/>
            <a:rect r="r" b="b" t="t" l="l"/>
            <a:pathLst>
              <a:path h="2078243" w="927920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2081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568932">
            <a:off x="1485922" y="1536885"/>
            <a:ext cx="1443297" cy="2069242"/>
          </a:xfrm>
          <a:custGeom>
            <a:avLst/>
            <a:gdLst/>
            <a:ahLst/>
            <a:cxnLst/>
            <a:rect r="r" b="b" t="t" l="l"/>
            <a:pathLst>
              <a:path h="2069242" w="1443297">
                <a:moveTo>
                  <a:pt x="0" y="0"/>
                </a:moveTo>
                <a:lnTo>
                  <a:pt x="1443297" y="0"/>
                </a:lnTo>
                <a:lnTo>
                  <a:pt x="1443297" y="2069242"/>
                </a:lnTo>
                <a:lnTo>
                  <a:pt x="0" y="2069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13920" y="6856667"/>
            <a:ext cx="3539744" cy="3430333"/>
          </a:xfrm>
          <a:custGeom>
            <a:avLst/>
            <a:gdLst/>
            <a:ahLst/>
            <a:cxnLst/>
            <a:rect r="r" b="b" t="t" l="l"/>
            <a:pathLst>
              <a:path h="3430333" w="3539744">
                <a:moveTo>
                  <a:pt x="0" y="0"/>
                </a:moveTo>
                <a:lnTo>
                  <a:pt x="3539743" y="0"/>
                </a:lnTo>
                <a:lnTo>
                  <a:pt x="3539743" y="3430333"/>
                </a:lnTo>
                <a:lnTo>
                  <a:pt x="0" y="34303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875209" y="5631007"/>
            <a:ext cx="3950104" cy="62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  <a:spcBef>
                <a:spcPct val="0"/>
              </a:spcBef>
            </a:pPr>
            <a:r>
              <a:rPr lang="en-US" sz="3677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Hossam sherif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631007"/>
            <a:ext cx="3962688" cy="62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  <a:spcBef>
                <a:spcPct val="0"/>
              </a:spcBef>
            </a:pPr>
            <a:r>
              <a:rPr lang="en-US" sz="3677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Rawan Hamdy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44745" y="3761120"/>
            <a:ext cx="3425147" cy="46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4"/>
              </a:lnSpc>
              <a:spcBef>
                <a:spcPct val="0"/>
              </a:spcBef>
            </a:pPr>
            <a:r>
              <a:rPr lang="en-US" sz="2688" i="true" spc="9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Team 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22669" y="5631007"/>
            <a:ext cx="4042662" cy="62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  <a:spcBef>
                <a:spcPct val="0"/>
              </a:spcBef>
            </a:pPr>
            <a:r>
              <a:rPr lang="en-US" sz="3677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Mohamed Hany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40727">
            <a:off x="3193661" y="857481"/>
            <a:ext cx="1162426" cy="1666560"/>
          </a:xfrm>
          <a:custGeom>
            <a:avLst/>
            <a:gdLst/>
            <a:ahLst/>
            <a:cxnLst/>
            <a:rect r="r" b="b" t="t" l="l"/>
            <a:pathLst>
              <a:path h="1666560" w="1162426">
                <a:moveTo>
                  <a:pt x="0" y="0"/>
                </a:moveTo>
                <a:lnTo>
                  <a:pt x="1162426" y="0"/>
                </a:lnTo>
                <a:lnTo>
                  <a:pt x="1162426" y="1666560"/>
                </a:lnTo>
                <a:lnTo>
                  <a:pt x="0" y="1666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74874" y="7115498"/>
            <a:ext cx="3950104" cy="62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  <a:spcBef>
                <a:spcPct val="0"/>
              </a:spcBef>
            </a:pPr>
            <a:r>
              <a:rPr lang="en-US" sz="3677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Asmaa Ibrahim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63815" y="7115498"/>
            <a:ext cx="3950104" cy="62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  <a:spcBef>
                <a:spcPct val="0"/>
              </a:spcBef>
            </a:pPr>
            <a:r>
              <a:rPr lang="en-US" sz="3677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Mohamed ayman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7670131" y="8661831"/>
            <a:ext cx="12159733" cy="1680254"/>
          </a:xfrm>
          <a:custGeom>
            <a:avLst/>
            <a:gdLst/>
            <a:ahLst/>
            <a:cxnLst/>
            <a:rect r="r" b="b" t="t" l="l"/>
            <a:pathLst>
              <a:path h="1680254" w="12159733">
                <a:moveTo>
                  <a:pt x="12159733" y="0"/>
                </a:moveTo>
                <a:lnTo>
                  <a:pt x="0" y="0"/>
                </a:lnTo>
                <a:lnTo>
                  <a:pt x="0" y="1680254"/>
                </a:lnTo>
                <a:lnTo>
                  <a:pt x="12159733" y="1680254"/>
                </a:lnTo>
                <a:lnTo>
                  <a:pt x="121597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972581" y="-143918"/>
            <a:ext cx="13032502" cy="1800855"/>
          </a:xfrm>
          <a:custGeom>
            <a:avLst/>
            <a:gdLst/>
            <a:ahLst/>
            <a:cxnLst/>
            <a:rect r="r" b="b" t="t" l="l"/>
            <a:pathLst>
              <a:path h="1800855" w="13032502">
                <a:moveTo>
                  <a:pt x="13032501" y="0"/>
                </a:moveTo>
                <a:lnTo>
                  <a:pt x="0" y="0"/>
                </a:lnTo>
                <a:lnTo>
                  <a:pt x="0" y="1800855"/>
                </a:lnTo>
                <a:lnTo>
                  <a:pt x="13032501" y="1800855"/>
                </a:lnTo>
                <a:lnTo>
                  <a:pt x="1303250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64865" y="1346131"/>
            <a:ext cx="12148746" cy="7912169"/>
            <a:chOff x="0" y="0"/>
            <a:chExt cx="16549709" cy="107784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486209" cy="10714903"/>
            </a:xfrm>
            <a:custGeom>
              <a:avLst/>
              <a:gdLst/>
              <a:ahLst/>
              <a:cxnLst/>
              <a:rect r="r" b="b" t="t" l="l"/>
              <a:pathLst>
                <a:path h="10714903" w="16486209">
                  <a:moveTo>
                    <a:pt x="16393499" y="10714903"/>
                  </a:moveTo>
                  <a:lnTo>
                    <a:pt x="92710" y="10714903"/>
                  </a:lnTo>
                  <a:cubicBezTo>
                    <a:pt x="41910" y="10714903"/>
                    <a:pt x="0" y="10672993"/>
                    <a:pt x="0" y="1062219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6392229" y="0"/>
                  </a:lnTo>
                  <a:cubicBezTo>
                    <a:pt x="16443029" y="0"/>
                    <a:pt x="16484940" y="41910"/>
                    <a:pt x="16484940" y="92710"/>
                  </a:cubicBezTo>
                  <a:lnTo>
                    <a:pt x="16484940" y="10620924"/>
                  </a:lnTo>
                  <a:cubicBezTo>
                    <a:pt x="16486209" y="10672993"/>
                    <a:pt x="16444299" y="10714903"/>
                    <a:pt x="16393499" y="10714903"/>
                  </a:cubicBezTo>
                  <a:close/>
                </a:path>
              </a:pathLst>
            </a:custGeom>
            <a:solidFill>
              <a:srgbClr val="FBF7F1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49709" cy="10778404"/>
            </a:xfrm>
            <a:custGeom>
              <a:avLst/>
              <a:gdLst/>
              <a:ahLst/>
              <a:cxnLst/>
              <a:rect r="r" b="b" t="t" l="l"/>
              <a:pathLst>
                <a:path h="10778404" w="16549709">
                  <a:moveTo>
                    <a:pt x="16425249" y="59690"/>
                  </a:moveTo>
                  <a:cubicBezTo>
                    <a:pt x="16460809" y="59690"/>
                    <a:pt x="16490018" y="88900"/>
                    <a:pt x="16490018" y="124460"/>
                  </a:cubicBezTo>
                  <a:lnTo>
                    <a:pt x="16490018" y="10653944"/>
                  </a:lnTo>
                  <a:cubicBezTo>
                    <a:pt x="16490018" y="10689504"/>
                    <a:pt x="16460809" y="10718714"/>
                    <a:pt x="16425249" y="10718714"/>
                  </a:cubicBezTo>
                  <a:lnTo>
                    <a:pt x="124460" y="10718714"/>
                  </a:lnTo>
                  <a:cubicBezTo>
                    <a:pt x="88900" y="10718714"/>
                    <a:pt x="59690" y="10689504"/>
                    <a:pt x="59690" y="106539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425249" y="59690"/>
                  </a:lnTo>
                  <a:moveTo>
                    <a:pt x="1642524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653944"/>
                  </a:lnTo>
                  <a:cubicBezTo>
                    <a:pt x="0" y="10722524"/>
                    <a:pt x="55880" y="10778404"/>
                    <a:pt x="124460" y="10778404"/>
                  </a:cubicBezTo>
                  <a:lnTo>
                    <a:pt x="16425249" y="10778404"/>
                  </a:lnTo>
                  <a:cubicBezTo>
                    <a:pt x="16493829" y="10778404"/>
                    <a:pt x="16549709" y="10722524"/>
                    <a:pt x="16549709" y="10653944"/>
                  </a:cubicBezTo>
                  <a:lnTo>
                    <a:pt x="16549709" y="124460"/>
                  </a:lnTo>
                  <a:cubicBezTo>
                    <a:pt x="16549709" y="55880"/>
                    <a:pt x="16493829" y="0"/>
                    <a:pt x="1642524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 flipH="true">
            <a:off x="3064865" y="4207368"/>
            <a:ext cx="121487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true" flipV="false" rot="-232289">
            <a:off x="11596108" y="528183"/>
            <a:ext cx="5940956" cy="4828377"/>
          </a:xfrm>
          <a:custGeom>
            <a:avLst/>
            <a:gdLst/>
            <a:ahLst/>
            <a:cxnLst/>
            <a:rect r="r" b="b" t="t" l="l"/>
            <a:pathLst>
              <a:path h="4828377" w="5940956">
                <a:moveTo>
                  <a:pt x="5940956" y="0"/>
                </a:moveTo>
                <a:lnTo>
                  <a:pt x="0" y="0"/>
                </a:lnTo>
                <a:lnTo>
                  <a:pt x="0" y="4828377"/>
                </a:lnTo>
                <a:lnTo>
                  <a:pt x="5940956" y="4828377"/>
                </a:lnTo>
                <a:lnTo>
                  <a:pt x="594095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508112">
            <a:off x="514679" y="1463528"/>
            <a:ext cx="2513769" cy="4114800"/>
          </a:xfrm>
          <a:custGeom>
            <a:avLst/>
            <a:gdLst/>
            <a:ahLst/>
            <a:cxnLst/>
            <a:rect r="r" b="b" t="t" l="l"/>
            <a:pathLst>
              <a:path h="4114800" w="2513769">
                <a:moveTo>
                  <a:pt x="0" y="0"/>
                </a:moveTo>
                <a:lnTo>
                  <a:pt x="2513769" y="0"/>
                </a:lnTo>
                <a:lnTo>
                  <a:pt x="2513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16157" y="5731368"/>
            <a:ext cx="2187598" cy="2187598"/>
          </a:xfrm>
          <a:custGeom>
            <a:avLst/>
            <a:gdLst/>
            <a:ahLst/>
            <a:cxnLst/>
            <a:rect r="r" b="b" t="t" l="l"/>
            <a:pathLst>
              <a:path h="2187598" w="2187598">
                <a:moveTo>
                  <a:pt x="0" y="0"/>
                </a:moveTo>
                <a:lnTo>
                  <a:pt x="2187599" y="0"/>
                </a:lnTo>
                <a:lnTo>
                  <a:pt x="2187599" y="2187598"/>
                </a:lnTo>
                <a:lnTo>
                  <a:pt x="0" y="2187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263213">
            <a:off x="12634477" y="1664731"/>
            <a:ext cx="4592383" cy="110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2"/>
              </a:lnSpc>
            </a:pPr>
            <a:r>
              <a:rPr lang="en-US" sz="7017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THE TASK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13556" y="3100377"/>
            <a:ext cx="7098579" cy="55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4" indent="-356232" lvl="1">
              <a:lnSpc>
                <a:spcPts val="4487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That is short for Exploratory data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76121" y="1904359"/>
            <a:ext cx="7800708" cy="71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31"/>
              </a:lnSpc>
            </a:pPr>
            <a:r>
              <a:rPr lang="en-US" sz="4399" spc="-3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Let's perform some EDA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37717" y="6250238"/>
            <a:ext cx="1393183" cy="110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5"/>
              </a:lnSpc>
            </a:pPr>
            <a:r>
              <a:rPr lang="en-US" sz="3299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Importing Libararies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95828" y="5731368"/>
            <a:ext cx="2187598" cy="2187598"/>
          </a:xfrm>
          <a:custGeom>
            <a:avLst/>
            <a:gdLst/>
            <a:ahLst/>
            <a:cxnLst/>
            <a:rect r="r" b="b" t="t" l="l"/>
            <a:pathLst>
              <a:path h="2187598" w="2187598">
                <a:moveTo>
                  <a:pt x="0" y="0"/>
                </a:moveTo>
                <a:lnTo>
                  <a:pt x="2187598" y="0"/>
                </a:lnTo>
                <a:lnTo>
                  <a:pt x="2187598" y="2187598"/>
                </a:lnTo>
                <a:lnTo>
                  <a:pt x="0" y="21875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47797" y="6250238"/>
            <a:ext cx="1483660" cy="110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5"/>
              </a:lnSpc>
            </a:pPr>
            <a:r>
              <a:rPr lang="en-US" sz="3299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Data loading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744519" y="5747730"/>
            <a:ext cx="2171236" cy="2171236"/>
          </a:xfrm>
          <a:custGeom>
            <a:avLst/>
            <a:gdLst/>
            <a:ahLst/>
            <a:cxnLst/>
            <a:rect r="r" b="b" t="t" l="l"/>
            <a:pathLst>
              <a:path h="2171236" w="2171236">
                <a:moveTo>
                  <a:pt x="0" y="0"/>
                </a:moveTo>
                <a:lnTo>
                  <a:pt x="2171237" y="0"/>
                </a:lnTo>
                <a:lnTo>
                  <a:pt x="2171237" y="2171236"/>
                </a:lnTo>
                <a:lnTo>
                  <a:pt x="0" y="21712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829404" y="6526463"/>
            <a:ext cx="1911657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299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preprossecing 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4087408">
            <a:off x="1193680" y="7229350"/>
            <a:ext cx="1514128" cy="1379233"/>
          </a:xfrm>
          <a:custGeom>
            <a:avLst/>
            <a:gdLst/>
            <a:ahLst/>
            <a:cxnLst/>
            <a:rect r="r" b="b" t="t" l="l"/>
            <a:pathLst>
              <a:path h="1379233" w="1514128">
                <a:moveTo>
                  <a:pt x="0" y="0"/>
                </a:moveTo>
                <a:lnTo>
                  <a:pt x="1514129" y="0"/>
                </a:lnTo>
                <a:lnTo>
                  <a:pt x="1514129" y="1379233"/>
                </a:lnTo>
                <a:lnTo>
                  <a:pt x="0" y="137923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587040" y="5731368"/>
            <a:ext cx="2187598" cy="2187598"/>
          </a:xfrm>
          <a:custGeom>
            <a:avLst/>
            <a:gdLst/>
            <a:ahLst/>
            <a:cxnLst/>
            <a:rect r="r" b="b" t="t" l="l"/>
            <a:pathLst>
              <a:path h="2187598" w="2187598">
                <a:moveTo>
                  <a:pt x="0" y="0"/>
                </a:moveTo>
                <a:lnTo>
                  <a:pt x="2187599" y="0"/>
                </a:lnTo>
                <a:lnTo>
                  <a:pt x="2187599" y="2187598"/>
                </a:lnTo>
                <a:lnTo>
                  <a:pt x="0" y="2187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258988" y="6526463"/>
            <a:ext cx="982018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299">
                <a:solidFill>
                  <a:srgbClr val="231F20"/>
                </a:solidFill>
                <a:latin typeface="Handy Casual"/>
                <a:ea typeface="Handy Casual"/>
                <a:cs typeface="Handy Casual"/>
                <a:sym typeface="Handy Casual"/>
              </a:rPr>
              <a:t>Visuals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2849" y="1511590"/>
            <a:ext cx="6003579" cy="7573322"/>
          </a:xfrm>
          <a:custGeom>
            <a:avLst/>
            <a:gdLst/>
            <a:ahLst/>
            <a:cxnLst/>
            <a:rect r="r" b="b" t="t" l="l"/>
            <a:pathLst>
              <a:path h="7573322" w="6003579">
                <a:moveTo>
                  <a:pt x="0" y="0"/>
                </a:moveTo>
                <a:lnTo>
                  <a:pt x="6003579" y="0"/>
                </a:lnTo>
                <a:lnTo>
                  <a:pt x="6003579" y="7573322"/>
                </a:lnTo>
                <a:lnTo>
                  <a:pt x="0" y="7573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68932">
            <a:off x="-30836" y="8050291"/>
            <a:ext cx="1443297" cy="2069242"/>
          </a:xfrm>
          <a:custGeom>
            <a:avLst/>
            <a:gdLst/>
            <a:ahLst/>
            <a:cxnLst/>
            <a:rect r="r" b="b" t="t" l="l"/>
            <a:pathLst>
              <a:path h="2069242" w="1443297">
                <a:moveTo>
                  <a:pt x="0" y="0"/>
                </a:moveTo>
                <a:lnTo>
                  <a:pt x="1443297" y="0"/>
                </a:lnTo>
                <a:lnTo>
                  <a:pt x="1443297" y="2069242"/>
                </a:lnTo>
                <a:lnTo>
                  <a:pt x="0" y="2069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027046">
            <a:off x="16502236" y="496365"/>
            <a:ext cx="1514128" cy="1379233"/>
          </a:xfrm>
          <a:custGeom>
            <a:avLst/>
            <a:gdLst/>
            <a:ahLst/>
            <a:cxnLst/>
            <a:rect r="r" b="b" t="t" l="l"/>
            <a:pathLst>
              <a:path h="1379233" w="1514128">
                <a:moveTo>
                  <a:pt x="0" y="0"/>
                </a:moveTo>
                <a:lnTo>
                  <a:pt x="1514128" y="0"/>
                </a:lnTo>
                <a:lnTo>
                  <a:pt x="1514128" y="1379233"/>
                </a:lnTo>
                <a:lnTo>
                  <a:pt x="0" y="13792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8878474">
            <a:off x="14462783" y="8607260"/>
            <a:ext cx="4427299" cy="1110849"/>
          </a:xfrm>
          <a:custGeom>
            <a:avLst/>
            <a:gdLst/>
            <a:ahLst/>
            <a:cxnLst/>
            <a:rect r="r" b="b" t="t" l="l"/>
            <a:pathLst>
              <a:path h="1110849" w="4427299">
                <a:moveTo>
                  <a:pt x="0" y="1110850"/>
                </a:moveTo>
                <a:lnTo>
                  <a:pt x="4427299" y="1110850"/>
                </a:lnTo>
                <a:lnTo>
                  <a:pt x="4427299" y="0"/>
                </a:lnTo>
                <a:lnTo>
                  <a:pt x="0" y="0"/>
                </a:lnTo>
                <a:lnTo>
                  <a:pt x="0" y="111085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87403" y="2305537"/>
            <a:ext cx="9289030" cy="5675926"/>
          </a:xfrm>
          <a:custGeom>
            <a:avLst/>
            <a:gdLst/>
            <a:ahLst/>
            <a:cxnLst/>
            <a:rect r="r" b="b" t="t" l="l"/>
            <a:pathLst>
              <a:path h="5675926" w="9289030">
                <a:moveTo>
                  <a:pt x="0" y="0"/>
                </a:moveTo>
                <a:lnTo>
                  <a:pt x="9289030" y="0"/>
                </a:lnTo>
                <a:lnTo>
                  <a:pt x="9289030" y="5675926"/>
                </a:lnTo>
                <a:lnTo>
                  <a:pt x="0" y="56759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445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49575" y="2452057"/>
            <a:ext cx="1110127" cy="88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3112" y="4338828"/>
            <a:ext cx="4469996" cy="161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</a:pPr>
            <a:r>
              <a:rPr lang="en-US" sz="36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This has been uploaded as a .ipynb file to the GitHub repository, here is a snippet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22617">
            <a:off x="8504696" y="2247821"/>
            <a:ext cx="1437070" cy="1309040"/>
          </a:xfrm>
          <a:custGeom>
            <a:avLst/>
            <a:gdLst/>
            <a:ahLst/>
            <a:cxnLst/>
            <a:rect r="r" b="b" t="t" l="l"/>
            <a:pathLst>
              <a:path h="1309040" w="1437070">
                <a:moveTo>
                  <a:pt x="0" y="0"/>
                </a:moveTo>
                <a:lnTo>
                  <a:pt x="1437070" y="0"/>
                </a:lnTo>
                <a:lnTo>
                  <a:pt x="1437070" y="1309041"/>
                </a:lnTo>
                <a:lnTo>
                  <a:pt x="0" y="1309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56874" y="4523954"/>
            <a:ext cx="4868434" cy="12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0"/>
              </a:lnSpc>
            </a:pPr>
            <a:r>
              <a:rPr lang="en-US" sz="9606" spc="211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VISUALS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64208" y="1893931"/>
            <a:ext cx="3705330" cy="976981"/>
            <a:chOff x="0" y="0"/>
            <a:chExt cx="1066981" cy="2813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6981" cy="281330"/>
            </a:xfrm>
            <a:custGeom>
              <a:avLst/>
              <a:gdLst/>
              <a:ahLst/>
              <a:cxnLst/>
              <a:rect r="r" b="b" t="t" l="l"/>
              <a:pathLst>
                <a:path h="281330" w="1066981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6111"/>
                  </a:lnTo>
                  <a:cubicBezTo>
                    <a:pt x="1066981" y="226061"/>
                    <a:pt x="1059057" y="245193"/>
                    <a:pt x="1044950" y="259299"/>
                  </a:cubicBezTo>
                  <a:cubicBezTo>
                    <a:pt x="1030844" y="273405"/>
                    <a:pt x="1011712" y="281330"/>
                    <a:pt x="991763" y="281330"/>
                  </a:cubicBezTo>
                  <a:lnTo>
                    <a:pt x="75218" y="281330"/>
                  </a:lnTo>
                  <a:cubicBezTo>
                    <a:pt x="55269" y="281330"/>
                    <a:pt x="36137" y="273405"/>
                    <a:pt x="22031" y="259299"/>
                  </a:cubicBezTo>
                  <a:cubicBezTo>
                    <a:pt x="7925" y="245193"/>
                    <a:pt x="0" y="226061"/>
                    <a:pt x="0" y="206111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C2EBE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066981" cy="252755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329888"/>
            <a:ext cx="3740501" cy="911138"/>
            <a:chOff x="0" y="0"/>
            <a:chExt cx="1077109" cy="2623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7109" cy="262370"/>
            </a:xfrm>
            <a:custGeom>
              <a:avLst/>
              <a:gdLst/>
              <a:ahLst/>
              <a:cxnLst/>
              <a:rect r="r" b="b" t="t" l="l"/>
              <a:pathLst>
                <a:path h="262370" w="1077109">
                  <a:moveTo>
                    <a:pt x="74511" y="0"/>
                  </a:moveTo>
                  <a:lnTo>
                    <a:pt x="1002598" y="0"/>
                  </a:lnTo>
                  <a:cubicBezTo>
                    <a:pt x="1022359" y="0"/>
                    <a:pt x="1041312" y="7850"/>
                    <a:pt x="1055285" y="21824"/>
                  </a:cubicBezTo>
                  <a:cubicBezTo>
                    <a:pt x="1069259" y="35797"/>
                    <a:pt x="1077109" y="54750"/>
                    <a:pt x="1077109" y="74511"/>
                  </a:cubicBezTo>
                  <a:lnTo>
                    <a:pt x="1077109" y="187859"/>
                  </a:lnTo>
                  <a:cubicBezTo>
                    <a:pt x="1077109" y="207620"/>
                    <a:pt x="1069259" y="226573"/>
                    <a:pt x="1055285" y="240546"/>
                  </a:cubicBezTo>
                  <a:cubicBezTo>
                    <a:pt x="1041312" y="254520"/>
                    <a:pt x="1022359" y="262370"/>
                    <a:pt x="1002598" y="262370"/>
                  </a:cubicBezTo>
                  <a:lnTo>
                    <a:pt x="74511" y="262370"/>
                  </a:lnTo>
                  <a:cubicBezTo>
                    <a:pt x="54750" y="262370"/>
                    <a:pt x="35797" y="254520"/>
                    <a:pt x="21824" y="240546"/>
                  </a:cubicBezTo>
                  <a:cubicBezTo>
                    <a:pt x="7850" y="226573"/>
                    <a:pt x="0" y="207620"/>
                    <a:pt x="0" y="187859"/>
                  </a:cubicBezTo>
                  <a:lnTo>
                    <a:pt x="0" y="74511"/>
                  </a:lnTo>
                  <a:cubicBezTo>
                    <a:pt x="0" y="54750"/>
                    <a:pt x="7850" y="35797"/>
                    <a:pt x="21824" y="21824"/>
                  </a:cubicBezTo>
                  <a:cubicBezTo>
                    <a:pt x="35797" y="7850"/>
                    <a:pt x="54750" y="0"/>
                    <a:pt x="74511" y="0"/>
                  </a:cubicBezTo>
                  <a:close/>
                </a:path>
              </a:pathLst>
            </a:custGeom>
            <a:solidFill>
              <a:srgbClr val="FBC04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077109" cy="233795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226150" y="6685966"/>
            <a:ext cx="3705330" cy="956919"/>
            <a:chOff x="0" y="0"/>
            <a:chExt cx="1066981" cy="2755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981" cy="275553"/>
            </a:xfrm>
            <a:custGeom>
              <a:avLst/>
              <a:gdLst/>
              <a:ahLst/>
              <a:cxnLst/>
              <a:rect r="r" b="b" t="t" l="l"/>
              <a:pathLst>
                <a:path h="275553" w="1066981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0335"/>
                  </a:lnTo>
                  <a:cubicBezTo>
                    <a:pt x="1066981" y="220284"/>
                    <a:pt x="1059057" y="239416"/>
                    <a:pt x="1044950" y="253522"/>
                  </a:cubicBezTo>
                  <a:cubicBezTo>
                    <a:pt x="1030844" y="267628"/>
                    <a:pt x="1011712" y="275553"/>
                    <a:pt x="991763" y="275553"/>
                  </a:cubicBezTo>
                  <a:lnTo>
                    <a:pt x="75218" y="275553"/>
                  </a:lnTo>
                  <a:cubicBezTo>
                    <a:pt x="55269" y="275553"/>
                    <a:pt x="36137" y="267628"/>
                    <a:pt x="22031" y="253522"/>
                  </a:cubicBezTo>
                  <a:cubicBezTo>
                    <a:pt x="7925" y="239416"/>
                    <a:pt x="0" y="220284"/>
                    <a:pt x="0" y="200335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E6BFE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066981" cy="246978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90807" y="1893931"/>
            <a:ext cx="3740501" cy="911138"/>
            <a:chOff x="0" y="0"/>
            <a:chExt cx="1077109" cy="2623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7109" cy="262370"/>
            </a:xfrm>
            <a:custGeom>
              <a:avLst/>
              <a:gdLst/>
              <a:ahLst/>
              <a:cxnLst/>
              <a:rect r="r" b="b" t="t" l="l"/>
              <a:pathLst>
                <a:path h="262370" w="1077109">
                  <a:moveTo>
                    <a:pt x="74511" y="0"/>
                  </a:moveTo>
                  <a:lnTo>
                    <a:pt x="1002598" y="0"/>
                  </a:lnTo>
                  <a:cubicBezTo>
                    <a:pt x="1022359" y="0"/>
                    <a:pt x="1041312" y="7850"/>
                    <a:pt x="1055285" y="21824"/>
                  </a:cubicBezTo>
                  <a:cubicBezTo>
                    <a:pt x="1069259" y="35797"/>
                    <a:pt x="1077109" y="54750"/>
                    <a:pt x="1077109" y="74511"/>
                  </a:cubicBezTo>
                  <a:lnTo>
                    <a:pt x="1077109" y="187859"/>
                  </a:lnTo>
                  <a:cubicBezTo>
                    <a:pt x="1077109" y="207620"/>
                    <a:pt x="1069259" y="226573"/>
                    <a:pt x="1055285" y="240546"/>
                  </a:cubicBezTo>
                  <a:cubicBezTo>
                    <a:pt x="1041312" y="254520"/>
                    <a:pt x="1022359" y="262370"/>
                    <a:pt x="1002598" y="262370"/>
                  </a:cubicBezTo>
                  <a:lnTo>
                    <a:pt x="74511" y="262370"/>
                  </a:lnTo>
                  <a:cubicBezTo>
                    <a:pt x="54750" y="262370"/>
                    <a:pt x="35797" y="254520"/>
                    <a:pt x="21824" y="240546"/>
                  </a:cubicBezTo>
                  <a:cubicBezTo>
                    <a:pt x="7850" y="226573"/>
                    <a:pt x="0" y="207620"/>
                    <a:pt x="0" y="187859"/>
                  </a:cubicBezTo>
                  <a:lnTo>
                    <a:pt x="0" y="74511"/>
                  </a:lnTo>
                  <a:cubicBezTo>
                    <a:pt x="0" y="54750"/>
                    <a:pt x="7850" y="35797"/>
                    <a:pt x="21824" y="21824"/>
                  </a:cubicBezTo>
                  <a:cubicBezTo>
                    <a:pt x="35797" y="7850"/>
                    <a:pt x="54750" y="0"/>
                    <a:pt x="74511" y="0"/>
                  </a:cubicBezTo>
                  <a:close/>
                </a:path>
              </a:pathLst>
            </a:custGeom>
            <a:solidFill>
              <a:srgbClr val="FBC0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1077109" cy="233795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553970" y="4320363"/>
            <a:ext cx="3705330" cy="956919"/>
            <a:chOff x="0" y="0"/>
            <a:chExt cx="1066981" cy="2755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6981" cy="275553"/>
            </a:xfrm>
            <a:custGeom>
              <a:avLst/>
              <a:gdLst/>
              <a:ahLst/>
              <a:cxnLst/>
              <a:rect r="r" b="b" t="t" l="l"/>
              <a:pathLst>
                <a:path h="275553" w="1066981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0335"/>
                  </a:lnTo>
                  <a:cubicBezTo>
                    <a:pt x="1066981" y="220284"/>
                    <a:pt x="1059057" y="239416"/>
                    <a:pt x="1044950" y="253522"/>
                  </a:cubicBezTo>
                  <a:cubicBezTo>
                    <a:pt x="1030844" y="267628"/>
                    <a:pt x="1011712" y="275553"/>
                    <a:pt x="991763" y="275553"/>
                  </a:cubicBezTo>
                  <a:lnTo>
                    <a:pt x="75218" y="275553"/>
                  </a:lnTo>
                  <a:cubicBezTo>
                    <a:pt x="55269" y="275553"/>
                    <a:pt x="36137" y="267628"/>
                    <a:pt x="22031" y="253522"/>
                  </a:cubicBezTo>
                  <a:cubicBezTo>
                    <a:pt x="7925" y="239416"/>
                    <a:pt x="0" y="220284"/>
                    <a:pt x="0" y="200335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E6BFE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066981" cy="246978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912701" y="6685966"/>
            <a:ext cx="3705330" cy="976981"/>
            <a:chOff x="0" y="0"/>
            <a:chExt cx="1066981" cy="2813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6981" cy="281330"/>
            </a:xfrm>
            <a:custGeom>
              <a:avLst/>
              <a:gdLst/>
              <a:ahLst/>
              <a:cxnLst/>
              <a:rect r="r" b="b" t="t" l="l"/>
              <a:pathLst>
                <a:path h="281330" w="1066981">
                  <a:moveTo>
                    <a:pt x="75218" y="0"/>
                  </a:moveTo>
                  <a:lnTo>
                    <a:pt x="991763" y="0"/>
                  </a:lnTo>
                  <a:cubicBezTo>
                    <a:pt x="1011712" y="0"/>
                    <a:pt x="1030844" y="7925"/>
                    <a:pt x="1044950" y="22031"/>
                  </a:cubicBezTo>
                  <a:cubicBezTo>
                    <a:pt x="1059057" y="36137"/>
                    <a:pt x="1066981" y="55269"/>
                    <a:pt x="1066981" y="75218"/>
                  </a:cubicBezTo>
                  <a:lnTo>
                    <a:pt x="1066981" y="206111"/>
                  </a:lnTo>
                  <a:cubicBezTo>
                    <a:pt x="1066981" y="226061"/>
                    <a:pt x="1059057" y="245193"/>
                    <a:pt x="1044950" y="259299"/>
                  </a:cubicBezTo>
                  <a:cubicBezTo>
                    <a:pt x="1030844" y="273405"/>
                    <a:pt x="1011712" y="281330"/>
                    <a:pt x="991763" y="281330"/>
                  </a:cubicBezTo>
                  <a:lnTo>
                    <a:pt x="75218" y="281330"/>
                  </a:lnTo>
                  <a:cubicBezTo>
                    <a:pt x="55269" y="281330"/>
                    <a:pt x="36137" y="273405"/>
                    <a:pt x="22031" y="259299"/>
                  </a:cubicBezTo>
                  <a:cubicBezTo>
                    <a:pt x="7925" y="245193"/>
                    <a:pt x="0" y="226061"/>
                    <a:pt x="0" y="206111"/>
                  </a:cubicBezTo>
                  <a:lnTo>
                    <a:pt x="0" y="75218"/>
                  </a:lnTo>
                  <a:cubicBezTo>
                    <a:pt x="0" y="55269"/>
                    <a:pt x="7925" y="36137"/>
                    <a:pt x="22031" y="22031"/>
                  </a:cubicBezTo>
                  <a:cubicBezTo>
                    <a:pt x="36137" y="7925"/>
                    <a:pt x="55269" y="0"/>
                    <a:pt x="75218" y="0"/>
                  </a:cubicBezTo>
                  <a:close/>
                </a:path>
              </a:pathLst>
            </a:custGeom>
            <a:solidFill>
              <a:srgbClr val="C2EBE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066981" cy="252755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1643804">
            <a:off x="10477014" y="2895848"/>
            <a:ext cx="2196191" cy="611817"/>
          </a:xfrm>
          <a:custGeom>
            <a:avLst/>
            <a:gdLst/>
            <a:ahLst/>
            <a:cxnLst/>
            <a:rect r="r" b="b" t="t" l="l"/>
            <a:pathLst>
              <a:path h="611817" w="2196191">
                <a:moveTo>
                  <a:pt x="0" y="0"/>
                </a:moveTo>
                <a:lnTo>
                  <a:pt x="2196190" y="0"/>
                </a:lnTo>
                <a:lnTo>
                  <a:pt x="2196190" y="611816"/>
                </a:lnTo>
                <a:lnTo>
                  <a:pt x="0" y="611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38440" y="4416519"/>
            <a:ext cx="3088337" cy="82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8"/>
              </a:lnSpc>
              <a:spcBef>
                <a:spcPct val="0"/>
              </a:spcBef>
            </a:pPr>
            <a:r>
              <a:rPr lang="en-US" sz="3093" spc="12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Correlation Heatmap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72705" y="1990773"/>
            <a:ext cx="3088337" cy="82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8"/>
              </a:lnSpc>
              <a:spcBef>
                <a:spcPct val="0"/>
              </a:spcBef>
            </a:pPr>
            <a:r>
              <a:rPr lang="en-US" sz="3093" spc="12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Room Type and Booking Status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34647" y="6990325"/>
            <a:ext cx="3088337" cy="42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8"/>
              </a:lnSpc>
              <a:spcBef>
                <a:spcPct val="0"/>
              </a:spcBef>
            </a:pPr>
            <a:r>
              <a:rPr lang="en-US" sz="3093" spc="12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Cancellation Rate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62467" y="4452762"/>
            <a:ext cx="3088337" cy="82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8"/>
              </a:lnSpc>
              <a:spcBef>
                <a:spcPct val="0"/>
              </a:spcBef>
            </a:pPr>
            <a:r>
              <a:rPr lang="en-US" sz="3093" spc="12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Room Type Distribution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10847" y="2176740"/>
            <a:ext cx="3088337" cy="43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8"/>
              </a:lnSpc>
              <a:spcBef>
                <a:spcPct val="0"/>
              </a:spcBef>
            </a:pPr>
            <a:r>
              <a:rPr lang="en-US" sz="3093" spc="12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Pair plots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21198" y="6756610"/>
            <a:ext cx="3088337" cy="82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8"/>
              </a:lnSpc>
              <a:spcBef>
                <a:spcPct val="0"/>
              </a:spcBef>
            </a:pPr>
            <a:r>
              <a:rPr lang="en-US" sz="3093" spc="12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Distribution of Average Price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204962">
            <a:off x="11333721" y="4479549"/>
            <a:ext cx="2196191" cy="611817"/>
          </a:xfrm>
          <a:custGeom>
            <a:avLst/>
            <a:gdLst/>
            <a:ahLst/>
            <a:cxnLst/>
            <a:rect r="r" b="b" t="t" l="l"/>
            <a:pathLst>
              <a:path h="611817" w="2196191">
                <a:moveTo>
                  <a:pt x="0" y="0"/>
                </a:moveTo>
                <a:lnTo>
                  <a:pt x="2196190" y="0"/>
                </a:lnTo>
                <a:lnTo>
                  <a:pt x="2196190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1543996">
            <a:off x="10606292" y="6494174"/>
            <a:ext cx="2196191" cy="611817"/>
          </a:xfrm>
          <a:custGeom>
            <a:avLst/>
            <a:gdLst/>
            <a:ahLst/>
            <a:cxnLst/>
            <a:rect r="r" b="b" t="t" l="l"/>
            <a:pathLst>
              <a:path h="611817" w="2196191">
                <a:moveTo>
                  <a:pt x="0" y="0"/>
                </a:moveTo>
                <a:lnTo>
                  <a:pt x="2196190" y="0"/>
                </a:lnTo>
                <a:lnTo>
                  <a:pt x="2196190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8767587">
            <a:off x="5953077" y="3012795"/>
            <a:ext cx="2196191" cy="611817"/>
          </a:xfrm>
          <a:custGeom>
            <a:avLst/>
            <a:gdLst/>
            <a:ahLst/>
            <a:cxnLst/>
            <a:rect r="r" b="b" t="t" l="l"/>
            <a:pathLst>
              <a:path h="611817" w="2196191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10366412">
            <a:off x="4870860" y="4744070"/>
            <a:ext cx="2196191" cy="611817"/>
          </a:xfrm>
          <a:custGeom>
            <a:avLst/>
            <a:gdLst/>
            <a:ahLst/>
            <a:cxnLst/>
            <a:rect r="r" b="b" t="t" l="l"/>
            <a:pathLst>
              <a:path h="611817" w="2196191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9139054">
            <a:off x="5920775" y="6494174"/>
            <a:ext cx="2196191" cy="611817"/>
          </a:xfrm>
          <a:custGeom>
            <a:avLst/>
            <a:gdLst/>
            <a:ahLst/>
            <a:cxnLst/>
            <a:rect r="r" b="b" t="t" l="l"/>
            <a:pathLst>
              <a:path h="611817" w="2196191">
                <a:moveTo>
                  <a:pt x="0" y="0"/>
                </a:moveTo>
                <a:lnTo>
                  <a:pt x="2196191" y="0"/>
                </a:lnTo>
                <a:lnTo>
                  <a:pt x="2196191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33085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8261386">
            <a:off x="8672556" y="6509905"/>
            <a:ext cx="1437070" cy="1309040"/>
          </a:xfrm>
          <a:custGeom>
            <a:avLst/>
            <a:gdLst/>
            <a:ahLst/>
            <a:cxnLst/>
            <a:rect r="r" b="b" t="t" l="l"/>
            <a:pathLst>
              <a:path h="1309040" w="1437070">
                <a:moveTo>
                  <a:pt x="0" y="0"/>
                </a:moveTo>
                <a:lnTo>
                  <a:pt x="1437070" y="0"/>
                </a:lnTo>
                <a:lnTo>
                  <a:pt x="1437070" y="1309041"/>
                </a:lnTo>
                <a:lnTo>
                  <a:pt x="0" y="1309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6806" y="1651269"/>
            <a:ext cx="7864519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0"/>
              </a:lnSpc>
            </a:pPr>
            <a:r>
              <a:rPr lang="en-US" sz="6600" spc="277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CONCEPT MAP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295294" y="5334444"/>
            <a:ext cx="3713137" cy="4248440"/>
          </a:xfrm>
          <a:custGeom>
            <a:avLst/>
            <a:gdLst/>
            <a:ahLst/>
            <a:cxnLst/>
            <a:rect r="r" b="b" t="t" l="l"/>
            <a:pathLst>
              <a:path h="4248440" w="3713137">
                <a:moveTo>
                  <a:pt x="0" y="0"/>
                </a:moveTo>
                <a:lnTo>
                  <a:pt x="3713137" y="0"/>
                </a:lnTo>
                <a:lnTo>
                  <a:pt x="3713137" y="4248440"/>
                </a:lnTo>
                <a:lnTo>
                  <a:pt x="0" y="424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984554" y="4997318"/>
            <a:ext cx="2763006" cy="1389808"/>
            <a:chOff x="0" y="0"/>
            <a:chExt cx="795631" cy="4002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5631" cy="400207"/>
            </a:xfrm>
            <a:custGeom>
              <a:avLst/>
              <a:gdLst/>
              <a:ahLst/>
              <a:cxnLst/>
              <a:rect r="r" b="b" t="t" l="l"/>
              <a:pathLst>
                <a:path h="400207" w="795631">
                  <a:moveTo>
                    <a:pt x="100872" y="0"/>
                  </a:moveTo>
                  <a:lnTo>
                    <a:pt x="694759" y="0"/>
                  </a:lnTo>
                  <a:cubicBezTo>
                    <a:pt x="750469" y="0"/>
                    <a:pt x="795631" y="45162"/>
                    <a:pt x="795631" y="100872"/>
                  </a:cubicBezTo>
                  <a:lnTo>
                    <a:pt x="795631" y="299335"/>
                  </a:lnTo>
                  <a:cubicBezTo>
                    <a:pt x="795631" y="326088"/>
                    <a:pt x="785004" y="351745"/>
                    <a:pt x="766087" y="370662"/>
                  </a:cubicBezTo>
                  <a:cubicBezTo>
                    <a:pt x="747169" y="389580"/>
                    <a:pt x="721512" y="400207"/>
                    <a:pt x="694759" y="400207"/>
                  </a:cubicBezTo>
                  <a:lnTo>
                    <a:pt x="100872" y="400207"/>
                  </a:lnTo>
                  <a:cubicBezTo>
                    <a:pt x="74119" y="400207"/>
                    <a:pt x="48462" y="389580"/>
                    <a:pt x="29545" y="370662"/>
                  </a:cubicBezTo>
                  <a:cubicBezTo>
                    <a:pt x="10628" y="351745"/>
                    <a:pt x="0" y="326088"/>
                    <a:pt x="0" y="299335"/>
                  </a:cubicBezTo>
                  <a:lnTo>
                    <a:pt x="0" y="100872"/>
                  </a:lnTo>
                  <a:cubicBezTo>
                    <a:pt x="0" y="74119"/>
                    <a:pt x="10628" y="48462"/>
                    <a:pt x="29545" y="29545"/>
                  </a:cubicBezTo>
                  <a:cubicBezTo>
                    <a:pt x="48462" y="10628"/>
                    <a:pt x="74119" y="0"/>
                    <a:pt x="100872" y="0"/>
                  </a:cubicBezTo>
                  <a:close/>
                </a:path>
              </a:pathLst>
            </a:custGeom>
            <a:solidFill>
              <a:srgbClr val="E6BFE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795631" cy="371632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146395" y="5270603"/>
            <a:ext cx="2601165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Simple</a:t>
            </a:r>
          </a:p>
          <a:p>
            <a:pPr algn="ctr">
              <a:lnSpc>
                <a:spcPts val="3465"/>
              </a:lnSpc>
              <a:spcBef>
                <a:spcPct val="0"/>
              </a:spcBef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idea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2591211">
            <a:off x="14926533" y="7283001"/>
            <a:ext cx="1345939" cy="611817"/>
          </a:xfrm>
          <a:custGeom>
            <a:avLst/>
            <a:gdLst/>
            <a:ahLst/>
            <a:cxnLst/>
            <a:rect r="r" b="b" t="t" l="l"/>
            <a:pathLst>
              <a:path h="611817" w="1345939">
                <a:moveTo>
                  <a:pt x="0" y="0"/>
                </a:moveTo>
                <a:lnTo>
                  <a:pt x="1345938" y="0"/>
                </a:lnTo>
                <a:lnTo>
                  <a:pt x="1345938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3501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307384" y="7324158"/>
            <a:ext cx="3055365" cy="1389808"/>
            <a:chOff x="0" y="0"/>
            <a:chExt cx="879818" cy="4002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9818" cy="400207"/>
            </a:xfrm>
            <a:custGeom>
              <a:avLst/>
              <a:gdLst/>
              <a:ahLst/>
              <a:cxnLst/>
              <a:rect r="r" b="b" t="t" l="l"/>
              <a:pathLst>
                <a:path h="400207" w="879818">
                  <a:moveTo>
                    <a:pt x="91220" y="0"/>
                  </a:moveTo>
                  <a:lnTo>
                    <a:pt x="788599" y="0"/>
                  </a:lnTo>
                  <a:cubicBezTo>
                    <a:pt x="838978" y="0"/>
                    <a:pt x="879818" y="40840"/>
                    <a:pt x="879818" y="91220"/>
                  </a:cubicBezTo>
                  <a:lnTo>
                    <a:pt x="879818" y="308988"/>
                  </a:lnTo>
                  <a:cubicBezTo>
                    <a:pt x="879818" y="359367"/>
                    <a:pt x="838978" y="400207"/>
                    <a:pt x="788599" y="400207"/>
                  </a:cubicBezTo>
                  <a:lnTo>
                    <a:pt x="91220" y="400207"/>
                  </a:lnTo>
                  <a:cubicBezTo>
                    <a:pt x="67027" y="400207"/>
                    <a:pt x="43825" y="390597"/>
                    <a:pt x="26718" y="373490"/>
                  </a:cubicBezTo>
                  <a:cubicBezTo>
                    <a:pt x="9611" y="356383"/>
                    <a:pt x="0" y="333180"/>
                    <a:pt x="0" y="308988"/>
                  </a:cubicBezTo>
                  <a:lnTo>
                    <a:pt x="0" y="91220"/>
                  </a:lnTo>
                  <a:cubicBezTo>
                    <a:pt x="0" y="40840"/>
                    <a:pt x="40840" y="0"/>
                    <a:pt x="91220" y="0"/>
                  </a:cubicBezTo>
                  <a:close/>
                </a:path>
              </a:pathLst>
            </a:custGeom>
            <a:solidFill>
              <a:srgbClr val="E6BFE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879818" cy="371632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274412" y="7597443"/>
            <a:ext cx="3088337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Awesome</a:t>
            </a:r>
          </a:p>
          <a:p>
            <a:pPr algn="ctr">
              <a:lnSpc>
                <a:spcPts val="3465"/>
              </a:lnSpc>
              <a:spcBef>
                <a:spcPct val="0"/>
              </a:spcBef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idea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555791" y="2965719"/>
            <a:ext cx="2926328" cy="1389808"/>
            <a:chOff x="0" y="0"/>
            <a:chExt cx="842661" cy="4002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2661" cy="400207"/>
            </a:xfrm>
            <a:custGeom>
              <a:avLst/>
              <a:gdLst/>
              <a:ahLst/>
              <a:cxnLst/>
              <a:rect r="r" b="b" t="t" l="l"/>
              <a:pathLst>
                <a:path h="400207" w="842661">
                  <a:moveTo>
                    <a:pt x="95242" y="0"/>
                  </a:moveTo>
                  <a:lnTo>
                    <a:pt x="747419" y="0"/>
                  </a:lnTo>
                  <a:cubicBezTo>
                    <a:pt x="800020" y="0"/>
                    <a:pt x="842661" y="42641"/>
                    <a:pt x="842661" y="95242"/>
                  </a:cubicBezTo>
                  <a:lnTo>
                    <a:pt x="842661" y="304965"/>
                  </a:lnTo>
                  <a:cubicBezTo>
                    <a:pt x="842661" y="330225"/>
                    <a:pt x="832627" y="354450"/>
                    <a:pt x="814765" y="372311"/>
                  </a:cubicBezTo>
                  <a:cubicBezTo>
                    <a:pt x="796904" y="390173"/>
                    <a:pt x="772679" y="400207"/>
                    <a:pt x="747419" y="400207"/>
                  </a:cubicBezTo>
                  <a:lnTo>
                    <a:pt x="95242" y="400207"/>
                  </a:lnTo>
                  <a:cubicBezTo>
                    <a:pt x="69982" y="400207"/>
                    <a:pt x="45757" y="390173"/>
                    <a:pt x="27896" y="372311"/>
                  </a:cubicBezTo>
                  <a:cubicBezTo>
                    <a:pt x="10034" y="354450"/>
                    <a:pt x="0" y="330225"/>
                    <a:pt x="0" y="304965"/>
                  </a:cubicBezTo>
                  <a:lnTo>
                    <a:pt x="0" y="95242"/>
                  </a:lnTo>
                  <a:cubicBezTo>
                    <a:pt x="0" y="69982"/>
                    <a:pt x="10034" y="45757"/>
                    <a:pt x="27896" y="27896"/>
                  </a:cubicBezTo>
                  <a:cubicBezTo>
                    <a:pt x="45757" y="10034"/>
                    <a:pt x="69982" y="0"/>
                    <a:pt x="95242" y="0"/>
                  </a:cubicBezTo>
                  <a:close/>
                </a:path>
              </a:pathLst>
            </a:custGeom>
            <a:solidFill>
              <a:srgbClr val="E6BFE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842661" cy="371632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767432" y="3239003"/>
            <a:ext cx="2508333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Brilliant</a:t>
            </a:r>
          </a:p>
          <a:p>
            <a:pPr algn="ctr">
              <a:lnSpc>
                <a:spcPts val="3465"/>
              </a:lnSpc>
              <a:spcBef>
                <a:spcPct val="0"/>
              </a:spcBef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idea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821399" y="3000300"/>
            <a:ext cx="2876106" cy="1389808"/>
            <a:chOff x="0" y="0"/>
            <a:chExt cx="828199" cy="4002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8199" cy="400207"/>
            </a:xfrm>
            <a:custGeom>
              <a:avLst/>
              <a:gdLst/>
              <a:ahLst/>
              <a:cxnLst/>
              <a:rect r="r" b="b" t="t" l="l"/>
              <a:pathLst>
                <a:path h="400207" w="828199">
                  <a:moveTo>
                    <a:pt x="96905" y="0"/>
                  </a:moveTo>
                  <a:lnTo>
                    <a:pt x="731294" y="0"/>
                  </a:lnTo>
                  <a:cubicBezTo>
                    <a:pt x="784813" y="0"/>
                    <a:pt x="828199" y="43386"/>
                    <a:pt x="828199" y="96905"/>
                  </a:cubicBezTo>
                  <a:lnTo>
                    <a:pt x="828199" y="303302"/>
                  </a:lnTo>
                  <a:cubicBezTo>
                    <a:pt x="828199" y="329003"/>
                    <a:pt x="817990" y="353651"/>
                    <a:pt x="799816" y="371824"/>
                  </a:cubicBezTo>
                  <a:cubicBezTo>
                    <a:pt x="781643" y="389998"/>
                    <a:pt x="756995" y="400207"/>
                    <a:pt x="731294" y="400207"/>
                  </a:cubicBezTo>
                  <a:lnTo>
                    <a:pt x="96905" y="400207"/>
                  </a:lnTo>
                  <a:cubicBezTo>
                    <a:pt x="71204" y="400207"/>
                    <a:pt x="46556" y="389998"/>
                    <a:pt x="28383" y="371824"/>
                  </a:cubicBezTo>
                  <a:cubicBezTo>
                    <a:pt x="10210" y="353651"/>
                    <a:pt x="0" y="329003"/>
                    <a:pt x="0" y="303302"/>
                  </a:cubicBezTo>
                  <a:lnTo>
                    <a:pt x="0" y="96905"/>
                  </a:lnTo>
                  <a:cubicBezTo>
                    <a:pt x="0" y="71204"/>
                    <a:pt x="10210" y="46556"/>
                    <a:pt x="28383" y="28383"/>
                  </a:cubicBezTo>
                  <a:cubicBezTo>
                    <a:pt x="46556" y="10210"/>
                    <a:pt x="71204" y="0"/>
                    <a:pt x="96905" y="0"/>
                  </a:cubicBezTo>
                  <a:close/>
                </a:path>
              </a:pathLst>
            </a:custGeom>
            <a:solidFill>
              <a:srgbClr val="E6BFE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828199" cy="371632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885180" y="3286921"/>
            <a:ext cx="2683054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Creative</a:t>
            </a:r>
          </a:p>
          <a:p>
            <a:pPr algn="ctr">
              <a:lnSpc>
                <a:spcPts val="3465"/>
              </a:lnSpc>
              <a:spcBef>
                <a:spcPct val="0"/>
              </a:spcBef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idea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574857" y="5045236"/>
            <a:ext cx="2854492" cy="1389808"/>
            <a:chOff x="0" y="0"/>
            <a:chExt cx="821975" cy="40020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1975" cy="400207"/>
            </a:xfrm>
            <a:custGeom>
              <a:avLst/>
              <a:gdLst/>
              <a:ahLst/>
              <a:cxnLst/>
              <a:rect r="r" b="b" t="t" l="l"/>
              <a:pathLst>
                <a:path h="400207" w="821975">
                  <a:moveTo>
                    <a:pt x="97639" y="0"/>
                  </a:moveTo>
                  <a:lnTo>
                    <a:pt x="724336" y="0"/>
                  </a:lnTo>
                  <a:cubicBezTo>
                    <a:pt x="750232" y="0"/>
                    <a:pt x="775067" y="10287"/>
                    <a:pt x="793377" y="28598"/>
                  </a:cubicBezTo>
                  <a:cubicBezTo>
                    <a:pt x="811688" y="46909"/>
                    <a:pt x="821975" y="71743"/>
                    <a:pt x="821975" y="97639"/>
                  </a:cubicBezTo>
                  <a:lnTo>
                    <a:pt x="821975" y="302568"/>
                  </a:lnTo>
                  <a:cubicBezTo>
                    <a:pt x="821975" y="356493"/>
                    <a:pt x="778261" y="400207"/>
                    <a:pt x="724336" y="400207"/>
                  </a:cubicBezTo>
                  <a:lnTo>
                    <a:pt x="97639" y="400207"/>
                  </a:lnTo>
                  <a:cubicBezTo>
                    <a:pt x="43714" y="400207"/>
                    <a:pt x="0" y="356493"/>
                    <a:pt x="0" y="302568"/>
                  </a:cubicBezTo>
                  <a:lnTo>
                    <a:pt x="0" y="97639"/>
                  </a:lnTo>
                  <a:cubicBezTo>
                    <a:pt x="0" y="43714"/>
                    <a:pt x="43714" y="0"/>
                    <a:pt x="97639" y="0"/>
                  </a:cubicBezTo>
                  <a:close/>
                </a:path>
              </a:pathLst>
            </a:custGeom>
            <a:solidFill>
              <a:srgbClr val="E6BFE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821975" cy="371632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617031" y="5318521"/>
            <a:ext cx="2770143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Great</a:t>
            </a:r>
          </a:p>
          <a:p>
            <a:pPr algn="ctr">
              <a:lnSpc>
                <a:spcPts val="3465"/>
              </a:lnSpc>
              <a:spcBef>
                <a:spcPct val="0"/>
              </a:spcBef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idea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023947" y="7341494"/>
            <a:ext cx="2799569" cy="1389808"/>
            <a:chOff x="0" y="0"/>
            <a:chExt cx="806160" cy="4002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6160" cy="400207"/>
            </a:xfrm>
            <a:custGeom>
              <a:avLst/>
              <a:gdLst/>
              <a:ahLst/>
              <a:cxnLst/>
              <a:rect r="r" b="b" t="t" l="l"/>
              <a:pathLst>
                <a:path h="400207" w="806160">
                  <a:moveTo>
                    <a:pt x="99554" y="0"/>
                  </a:moveTo>
                  <a:lnTo>
                    <a:pt x="706605" y="0"/>
                  </a:lnTo>
                  <a:cubicBezTo>
                    <a:pt x="733009" y="0"/>
                    <a:pt x="758331" y="10489"/>
                    <a:pt x="777001" y="29159"/>
                  </a:cubicBezTo>
                  <a:cubicBezTo>
                    <a:pt x="795671" y="47829"/>
                    <a:pt x="806160" y="73151"/>
                    <a:pt x="806160" y="99554"/>
                  </a:cubicBezTo>
                  <a:lnTo>
                    <a:pt x="806160" y="300653"/>
                  </a:lnTo>
                  <a:cubicBezTo>
                    <a:pt x="806160" y="355635"/>
                    <a:pt x="761588" y="400207"/>
                    <a:pt x="706605" y="400207"/>
                  </a:cubicBezTo>
                  <a:lnTo>
                    <a:pt x="99554" y="400207"/>
                  </a:lnTo>
                  <a:cubicBezTo>
                    <a:pt x="73151" y="400207"/>
                    <a:pt x="47829" y="389718"/>
                    <a:pt x="29159" y="371048"/>
                  </a:cubicBezTo>
                  <a:cubicBezTo>
                    <a:pt x="10489" y="352378"/>
                    <a:pt x="0" y="327056"/>
                    <a:pt x="0" y="300653"/>
                  </a:cubicBezTo>
                  <a:lnTo>
                    <a:pt x="0" y="99554"/>
                  </a:lnTo>
                  <a:cubicBezTo>
                    <a:pt x="0" y="44572"/>
                    <a:pt x="44572" y="0"/>
                    <a:pt x="99554" y="0"/>
                  </a:cubicBezTo>
                  <a:close/>
                </a:path>
              </a:pathLst>
            </a:custGeom>
            <a:solidFill>
              <a:srgbClr val="E6BFE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806160" cy="371632"/>
            </a:xfrm>
            <a:prstGeom prst="rect">
              <a:avLst/>
            </a:prstGeom>
          </p:spPr>
          <p:txBody>
            <a:bodyPr anchor="ctr" rtlCol="false" tIns="71438" lIns="71438" bIns="71438" rIns="71438"/>
            <a:lstStyle/>
            <a:p>
              <a:pPr algn="ctr">
                <a:lnSpc>
                  <a:spcPts val="2598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140009" y="7604916"/>
            <a:ext cx="2567445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Cool</a:t>
            </a:r>
          </a:p>
          <a:p>
            <a:pPr algn="ctr">
              <a:lnSpc>
                <a:spcPts val="3465"/>
              </a:lnSpc>
              <a:spcBef>
                <a:spcPct val="0"/>
              </a:spcBef>
            </a:pPr>
            <a:r>
              <a:rPr lang="en-US" sz="3300" spc="138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idea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-7790319">
            <a:off x="2437143" y="4987526"/>
            <a:ext cx="1345939" cy="611817"/>
          </a:xfrm>
          <a:custGeom>
            <a:avLst/>
            <a:gdLst/>
            <a:ahLst/>
            <a:cxnLst/>
            <a:rect r="r" b="b" t="t" l="l"/>
            <a:pathLst>
              <a:path h="611817" w="1345939">
                <a:moveTo>
                  <a:pt x="0" y="0"/>
                </a:moveTo>
                <a:lnTo>
                  <a:pt x="1345939" y="0"/>
                </a:lnTo>
                <a:lnTo>
                  <a:pt x="1345939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3501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2638600">
            <a:off x="8660159" y="479015"/>
            <a:ext cx="1206893" cy="1099370"/>
          </a:xfrm>
          <a:custGeom>
            <a:avLst/>
            <a:gdLst/>
            <a:ahLst/>
            <a:cxnLst/>
            <a:rect r="r" b="b" t="t" l="l"/>
            <a:pathLst>
              <a:path h="1099370" w="1206893">
                <a:moveTo>
                  <a:pt x="0" y="0"/>
                </a:moveTo>
                <a:lnTo>
                  <a:pt x="1206893" y="0"/>
                </a:lnTo>
                <a:lnTo>
                  <a:pt x="1206893" y="1099370"/>
                </a:lnTo>
                <a:lnTo>
                  <a:pt x="0" y="1099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7790319">
            <a:off x="3725241" y="2869765"/>
            <a:ext cx="1307544" cy="595894"/>
          </a:xfrm>
          <a:custGeom>
            <a:avLst/>
            <a:gdLst/>
            <a:ahLst/>
            <a:cxnLst/>
            <a:rect r="r" b="b" t="t" l="l"/>
            <a:pathLst>
              <a:path h="595894" w="1307544">
                <a:moveTo>
                  <a:pt x="0" y="0"/>
                </a:moveTo>
                <a:lnTo>
                  <a:pt x="1307544" y="0"/>
                </a:lnTo>
                <a:lnTo>
                  <a:pt x="1307544" y="595894"/>
                </a:lnTo>
                <a:lnTo>
                  <a:pt x="0" y="595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490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444097" y="1769670"/>
            <a:ext cx="2702709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5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Lorem ipsum dolor sit amet, consectetur adipiscing elit. Sed non orci hendrerit augue interdum lacinia at egestas dolor. Vivamus elementum pulvinar tempus.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1332" y="3843287"/>
            <a:ext cx="2702709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5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Lorem ipsum dolor sit amet, consectetur adipiscing elit. Sed non orci hendrerit augue interdum lacinia at egestas dolor. Vivamus elementum pulvinar tempus.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-2591211">
            <a:off x="14532199" y="4926595"/>
            <a:ext cx="1345939" cy="611817"/>
          </a:xfrm>
          <a:custGeom>
            <a:avLst/>
            <a:gdLst/>
            <a:ahLst/>
            <a:cxnLst/>
            <a:rect r="r" b="b" t="t" l="l"/>
            <a:pathLst>
              <a:path h="611817" w="1345939">
                <a:moveTo>
                  <a:pt x="0" y="0"/>
                </a:moveTo>
                <a:lnTo>
                  <a:pt x="1345939" y="0"/>
                </a:lnTo>
                <a:lnTo>
                  <a:pt x="1345939" y="611816"/>
                </a:lnTo>
                <a:lnTo>
                  <a:pt x="0" y="611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3501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-2700000">
            <a:off x="13178393" y="2984796"/>
            <a:ext cx="1307544" cy="595894"/>
          </a:xfrm>
          <a:custGeom>
            <a:avLst/>
            <a:gdLst/>
            <a:ahLst/>
            <a:cxnLst/>
            <a:rect r="r" b="b" t="t" l="l"/>
            <a:pathLst>
              <a:path h="595894" w="1307544">
                <a:moveTo>
                  <a:pt x="0" y="0"/>
                </a:moveTo>
                <a:lnTo>
                  <a:pt x="1307544" y="0"/>
                </a:lnTo>
                <a:lnTo>
                  <a:pt x="1307544" y="595893"/>
                </a:lnTo>
                <a:lnTo>
                  <a:pt x="0" y="595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490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628330" y="1769670"/>
            <a:ext cx="2702709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5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Lorem ipsum dolor sit amet, consectetur adipiscing elit. Sed non orci hendrerit augue interdum lacinia at egestas dolor. Vivamus elementum pulvinar tempus.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690410" y="3772696"/>
            <a:ext cx="2702709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5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Lorem ipsum dolor sit amet, consectetur adipiscing elit. Sed non orci hendrerit augue interdum lacinia at egestas dolor. Vivamus elementum pulvinar tempus.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-7790319">
            <a:off x="1969717" y="7273476"/>
            <a:ext cx="1345939" cy="611817"/>
          </a:xfrm>
          <a:custGeom>
            <a:avLst/>
            <a:gdLst/>
            <a:ahLst/>
            <a:cxnLst/>
            <a:rect r="r" b="b" t="t" l="l"/>
            <a:pathLst>
              <a:path h="611817" w="1345939">
                <a:moveTo>
                  <a:pt x="0" y="0"/>
                </a:moveTo>
                <a:lnTo>
                  <a:pt x="1345939" y="0"/>
                </a:lnTo>
                <a:lnTo>
                  <a:pt x="1345939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3501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76873" y="6091708"/>
            <a:ext cx="2702709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5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Lorem ipsum dolor sit amet, consectetur adipiscing elit. Sed non orci hendrerit augue interdum lacinia at egestas dolor. Vivamus elementum pulvinar tempus.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131589" y="6091708"/>
            <a:ext cx="2702709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500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Lorem ipsum dolor sit amet, consectetur adipiscing elit. Sed non orci hendrerit augue interdum lacinia at egestas dolor. Vivamus elementum pulvinar tempus.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-2832155">
            <a:off x="9287896" y="4670333"/>
            <a:ext cx="1307544" cy="595894"/>
          </a:xfrm>
          <a:custGeom>
            <a:avLst/>
            <a:gdLst/>
            <a:ahLst/>
            <a:cxnLst/>
            <a:rect r="r" b="b" t="t" l="l"/>
            <a:pathLst>
              <a:path h="595894" w="1307544">
                <a:moveTo>
                  <a:pt x="0" y="0"/>
                </a:moveTo>
                <a:lnTo>
                  <a:pt x="1307544" y="0"/>
                </a:lnTo>
                <a:lnTo>
                  <a:pt x="1307544" y="595893"/>
                </a:lnTo>
                <a:lnTo>
                  <a:pt x="0" y="595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490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7162041">
            <a:off x="7776942" y="4688265"/>
            <a:ext cx="1307544" cy="595894"/>
          </a:xfrm>
          <a:custGeom>
            <a:avLst/>
            <a:gdLst/>
            <a:ahLst/>
            <a:cxnLst/>
            <a:rect r="r" b="b" t="t" l="l"/>
            <a:pathLst>
              <a:path h="595894" w="1307544">
                <a:moveTo>
                  <a:pt x="0" y="0"/>
                </a:moveTo>
                <a:lnTo>
                  <a:pt x="1307545" y="0"/>
                </a:lnTo>
                <a:lnTo>
                  <a:pt x="1307545" y="595894"/>
                </a:lnTo>
                <a:lnTo>
                  <a:pt x="0" y="595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490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-7790319">
            <a:off x="6559798" y="5999022"/>
            <a:ext cx="1345939" cy="611817"/>
          </a:xfrm>
          <a:custGeom>
            <a:avLst/>
            <a:gdLst/>
            <a:ahLst/>
            <a:cxnLst/>
            <a:rect r="r" b="b" t="t" l="l"/>
            <a:pathLst>
              <a:path h="611817" w="1345939">
                <a:moveTo>
                  <a:pt x="0" y="0"/>
                </a:moveTo>
                <a:lnTo>
                  <a:pt x="1345938" y="0"/>
                </a:lnTo>
                <a:lnTo>
                  <a:pt x="1345938" y="611816"/>
                </a:lnTo>
                <a:lnTo>
                  <a:pt x="0" y="611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3501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-10511353">
            <a:off x="6199011" y="8226739"/>
            <a:ext cx="1345939" cy="611817"/>
          </a:xfrm>
          <a:custGeom>
            <a:avLst/>
            <a:gdLst/>
            <a:ahLst/>
            <a:cxnLst/>
            <a:rect r="r" b="b" t="t" l="l"/>
            <a:pathLst>
              <a:path h="611817" w="1345939">
                <a:moveTo>
                  <a:pt x="0" y="0"/>
                </a:moveTo>
                <a:lnTo>
                  <a:pt x="1345939" y="0"/>
                </a:lnTo>
                <a:lnTo>
                  <a:pt x="1345939" y="611816"/>
                </a:lnTo>
                <a:lnTo>
                  <a:pt x="0" y="611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3501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304285">
            <a:off x="10648609" y="8192600"/>
            <a:ext cx="1345939" cy="611817"/>
          </a:xfrm>
          <a:custGeom>
            <a:avLst/>
            <a:gdLst/>
            <a:ahLst/>
            <a:cxnLst/>
            <a:rect r="r" b="b" t="t" l="l"/>
            <a:pathLst>
              <a:path h="611817" w="1345939">
                <a:moveTo>
                  <a:pt x="0" y="0"/>
                </a:moveTo>
                <a:lnTo>
                  <a:pt x="1345939" y="0"/>
                </a:lnTo>
                <a:lnTo>
                  <a:pt x="1345939" y="611816"/>
                </a:lnTo>
                <a:lnTo>
                  <a:pt x="0" y="611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3501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-2591211">
            <a:off x="10459148" y="6028123"/>
            <a:ext cx="1345939" cy="611817"/>
          </a:xfrm>
          <a:custGeom>
            <a:avLst/>
            <a:gdLst/>
            <a:ahLst/>
            <a:cxnLst/>
            <a:rect r="r" b="b" t="t" l="l"/>
            <a:pathLst>
              <a:path h="611817" w="1345939">
                <a:moveTo>
                  <a:pt x="0" y="0"/>
                </a:moveTo>
                <a:lnTo>
                  <a:pt x="1345938" y="0"/>
                </a:lnTo>
                <a:lnTo>
                  <a:pt x="1345938" y="611817"/>
                </a:lnTo>
                <a:lnTo>
                  <a:pt x="0" y="611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3501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60082" y="1886530"/>
            <a:ext cx="9912332" cy="7855523"/>
          </a:xfrm>
          <a:custGeom>
            <a:avLst/>
            <a:gdLst/>
            <a:ahLst/>
            <a:cxnLst/>
            <a:rect r="r" b="b" t="t" l="l"/>
            <a:pathLst>
              <a:path h="7855523" w="9912332">
                <a:moveTo>
                  <a:pt x="0" y="0"/>
                </a:moveTo>
                <a:lnTo>
                  <a:pt x="9912332" y="0"/>
                </a:lnTo>
                <a:lnTo>
                  <a:pt x="9912332" y="7855523"/>
                </a:lnTo>
                <a:lnTo>
                  <a:pt x="0" y="7855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7908466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PAIR PLOTS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60082" y="1886530"/>
            <a:ext cx="9912332" cy="7855523"/>
          </a:xfrm>
          <a:custGeom>
            <a:avLst/>
            <a:gdLst/>
            <a:ahLst/>
            <a:cxnLst/>
            <a:rect r="r" b="b" t="t" l="l"/>
            <a:pathLst>
              <a:path h="7855523" w="9912332">
                <a:moveTo>
                  <a:pt x="0" y="0"/>
                </a:moveTo>
                <a:lnTo>
                  <a:pt x="9912332" y="0"/>
                </a:lnTo>
                <a:lnTo>
                  <a:pt x="9912332" y="7855523"/>
                </a:lnTo>
                <a:lnTo>
                  <a:pt x="0" y="7855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7908466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PAIR PLOTS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60082" y="1886530"/>
            <a:ext cx="9912332" cy="7855523"/>
          </a:xfrm>
          <a:custGeom>
            <a:avLst/>
            <a:gdLst/>
            <a:ahLst/>
            <a:cxnLst/>
            <a:rect r="r" b="b" t="t" l="l"/>
            <a:pathLst>
              <a:path h="7855523" w="9912332">
                <a:moveTo>
                  <a:pt x="0" y="0"/>
                </a:moveTo>
                <a:lnTo>
                  <a:pt x="9912332" y="0"/>
                </a:lnTo>
                <a:lnTo>
                  <a:pt x="9912332" y="7855523"/>
                </a:lnTo>
                <a:lnTo>
                  <a:pt x="0" y="78555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7908466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PAIR PLOTS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29130" y="2024136"/>
            <a:ext cx="12060931" cy="7372244"/>
          </a:xfrm>
          <a:custGeom>
            <a:avLst/>
            <a:gdLst/>
            <a:ahLst/>
            <a:cxnLst/>
            <a:rect r="r" b="b" t="t" l="l"/>
            <a:pathLst>
              <a:path h="7372244" w="12060931">
                <a:moveTo>
                  <a:pt x="0" y="0"/>
                </a:moveTo>
                <a:lnTo>
                  <a:pt x="12060931" y="0"/>
                </a:lnTo>
                <a:lnTo>
                  <a:pt x="12060931" y="7372244"/>
                </a:lnTo>
                <a:lnTo>
                  <a:pt x="0" y="73722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7908466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ROOM TYPE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97015" y="1898579"/>
            <a:ext cx="12173693" cy="7745512"/>
          </a:xfrm>
          <a:custGeom>
            <a:avLst/>
            <a:gdLst/>
            <a:ahLst/>
            <a:cxnLst/>
            <a:rect r="r" b="b" t="t" l="l"/>
            <a:pathLst>
              <a:path h="7745512" w="12173693">
                <a:moveTo>
                  <a:pt x="0" y="0"/>
                </a:moveTo>
                <a:lnTo>
                  <a:pt x="12173693" y="0"/>
                </a:lnTo>
                <a:lnTo>
                  <a:pt x="12173693" y="7745513"/>
                </a:lnTo>
                <a:lnTo>
                  <a:pt x="0" y="77455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7908466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DISTRIBUTION OF AVERAGE PRICE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45451" y="2024136"/>
            <a:ext cx="11741596" cy="7558652"/>
          </a:xfrm>
          <a:custGeom>
            <a:avLst/>
            <a:gdLst/>
            <a:ahLst/>
            <a:cxnLst/>
            <a:rect r="r" b="b" t="t" l="l"/>
            <a:pathLst>
              <a:path h="7558652" w="11741596">
                <a:moveTo>
                  <a:pt x="0" y="0"/>
                </a:moveTo>
                <a:lnTo>
                  <a:pt x="11741595" y="0"/>
                </a:lnTo>
                <a:lnTo>
                  <a:pt x="11741595" y="7558652"/>
                </a:lnTo>
                <a:lnTo>
                  <a:pt x="0" y="755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11316684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AVERAGE PRICE BY ROOM TYPE AND BOOKING STATUS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29130" y="1918325"/>
            <a:ext cx="12153364" cy="7823728"/>
          </a:xfrm>
          <a:custGeom>
            <a:avLst/>
            <a:gdLst/>
            <a:ahLst/>
            <a:cxnLst/>
            <a:rect r="r" b="b" t="t" l="l"/>
            <a:pathLst>
              <a:path h="7823728" w="12153364">
                <a:moveTo>
                  <a:pt x="0" y="0"/>
                </a:moveTo>
                <a:lnTo>
                  <a:pt x="12153364" y="0"/>
                </a:lnTo>
                <a:lnTo>
                  <a:pt x="12153364" y="7823728"/>
                </a:lnTo>
                <a:lnTo>
                  <a:pt x="0" y="782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12098657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AVERAGE PRICE BY ROOM TYPE AND BOOKING STATUS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99815" y="1820758"/>
            <a:ext cx="11054816" cy="7710624"/>
          </a:xfrm>
          <a:custGeom>
            <a:avLst/>
            <a:gdLst/>
            <a:ahLst/>
            <a:cxnLst/>
            <a:rect r="r" b="b" t="t" l="l"/>
            <a:pathLst>
              <a:path h="7710624" w="11054816">
                <a:moveTo>
                  <a:pt x="0" y="0"/>
                </a:moveTo>
                <a:lnTo>
                  <a:pt x="11054816" y="0"/>
                </a:lnTo>
                <a:lnTo>
                  <a:pt x="11054816" y="7710624"/>
                </a:lnTo>
                <a:lnTo>
                  <a:pt x="0" y="7710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7908466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CORRELATION HEATMAP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29130" y="1808574"/>
            <a:ext cx="12592824" cy="7933479"/>
          </a:xfrm>
          <a:custGeom>
            <a:avLst/>
            <a:gdLst/>
            <a:ahLst/>
            <a:cxnLst/>
            <a:rect r="r" b="b" t="t" l="l"/>
            <a:pathLst>
              <a:path h="7933479" w="12592824">
                <a:moveTo>
                  <a:pt x="0" y="0"/>
                </a:moveTo>
                <a:lnTo>
                  <a:pt x="12592824" y="0"/>
                </a:lnTo>
                <a:lnTo>
                  <a:pt x="12592824" y="7933479"/>
                </a:lnTo>
                <a:lnTo>
                  <a:pt x="0" y="7933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7908466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BOOKING STATUS BY ROOM TYPE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498835" y="2024136"/>
            <a:ext cx="13702117" cy="6799676"/>
          </a:xfrm>
          <a:custGeom>
            <a:avLst/>
            <a:gdLst/>
            <a:ahLst/>
            <a:cxnLst/>
            <a:rect r="r" b="b" t="t" l="l"/>
            <a:pathLst>
              <a:path h="6799676" w="13702117">
                <a:moveTo>
                  <a:pt x="0" y="0"/>
                </a:moveTo>
                <a:lnTo>
                  <a:pt x="13702117" y="0"/>
                </a:lnTo>
                <a:lnTo>
                  <a:pt x="13702117" y="6799676"/>
                </a:lnTo>
                <a:lnTo>
                  <a:pt x="0" y="6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55973" y="508743"/>
            <a:ext cx="11566066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CANCELLATION RATE BY MARKET SEGMENT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32401" y="1878663"/>
            <a:ext cx="10554416" cy="7717917"/>
          </a:xfrm>
          <a:custGeom>
            <a:avLst/>
            <a:gdLst/>
            <a:ahLst/>
            <a:cxnLst/>
            <a:rect r="r" b="b" t="t" l="l"/>
            <a:pathLst>
              <a:path h="7717917" w="10554416">
                <a:moveTo>
                  <a:pt x="0" y="0"/>
                </a:moveTo>
                <a:lnTo>
                  <a:pt x="10554416" y="0"/>
                </a:lnTo>
                <a:lnTo>
                  <a:pt x="10554416" y="7717917"/>
                </a:lnTo>
                <a:lnTo>
                  <a:pt x="0" y="77179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13436430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AVERAGE PRICE BY MARKET SEGMENT TYPE AND BOOKING STATUS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44766" y="2024136"/>
            <a:ext cx="10315059" cy="7454242"/>
          </a:xfrm>
          <a:custGeom>
            <a:avLst/>
            <a:gdLst/>
            <a:ahLst/>
            <a:cxnLst/>
            <a:rect r="r" b="b" t="t" l="l"/>
            <a:pathLst>
              <a:path h="7454242" w="10315059">
                <a:moveTo>
                  <a:pt x="0" y="0"/>
                </a:moveTo>
                <a:lnTo>
                  <a:pt x="10315060" y="0"/>
                </a:lnTo>
                <a:lnTo>
                  <a:pt x="10315060" y="7454242"/>
                </a:lnTo>
                <a:lnTo>
                  <a:pt x="0" y="74542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7908466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DISTRIBUTION OF LEAD TIME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146330" y="-145721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0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0" y="1836482"/>
                </a:lnTo>
                <a:lnTo>
                  <a:pt x="132903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8209465" y="8823812"/>
            <a:ext cx="13290330" cy="1836482"/>
          </a:xfrm>
          <a:custGeom>
            <a:avLst/>
            <a:gdLst/>
            <a:ahLst/>
            <a:cxnLst/>
            <a:rect r="r" b="b" t="t" l="l"/>
            <a:pathLst>
              <a:path h="1836482" w="13290330">
                <a:moveTo>
                  <a:pt x="13290331" y="0"/>
                </a:moveTo>
                <a:lnTo>
                  <a:pt x="0" y="0"/>
                </a:lnTo>
                <a:lnTo>
                  <a:pt x="0" y="1836482"/>
                </a:lnTo>
                <a:lnTo>
                  <a:pt x="13290331" y="1836482"/>
                </a:lnTo>
                <a:lnTo>
                  <a:pt x="13290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75609" y="201108"/>
            <a:ext cx="14081279" cy="9884784"/>
            <a:chOff x="0" y="0"/>
            <a:chExt cx="15228478" cy="10690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5164978" cy="10626596"/>
            </a:xfrm>
            <a:custGeom>
              <a:avLst/>
              <a:gdLst/>
              <a:ahLst/>
              <a:cxnLst/>
              <a:rect r="r" b="b" t="t" l="l"/>
              <a:pathLst>
                <a:path h="10626596" w="15164978">
                  <a:moveTo>
                    <a:pt x="15072269" y="10626596"/>
                  </a:moveTo>
                  <a:lnTo>
                    <a:pt x="92710" y="10626596"/>
                  </a:lnTo>
                  <a:cubicBezTo>
                    <a:pt x="41910" y="10626596"/>
                    <a:pt x="0" y="10584686"/>
                    <a:pt x="0" y="1053388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070998" y="0"/>
                  </a:lnTo>
                  <a:cubicBezTo>
                    <a:pt x="15121798" y="0"/>
                    <a:pt x="15163709" y="41910"/>
                    <a:pt x="15163709" y="92710"/>
                  </a:cubicBezTo>
                  <a:lnTo>
                    <a:pt x="15163709" y="10532617"/>
                  </a:lnTo>
                  <a:cubicBezTo>
                    <a:pt x="15164978" y="10584686"/>
                    <a:pt x="15123069" y="10626596"/>
                    <a:pt x="15072269" y="10626596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28478" cy="10690096"/>
            </a:xfrm>
            <a:custGeom>
              <a:avLst/>
              <a:gdLst/>
              <a:ahLst/>
              <a:cxnLst/>
              <a:rect r="r" b="b" t="t" l="l"/>
              <a:pathLst>
                <a:path h="10690096" w="15228478">
                  <a:moveTo>
                    <a:pt x="15104019" y="59690"/>
                  </a:moveTo>
                  <a:cubicBezTo>
                    <a:pt x="15139578" y="59690"/>
                    <a:pt x="15168789" y="88900"/>
                    <a:pt x="15168789" y="124460"/>
                  </a:cubicBezTo>
                  <a:lnTo>
                    <a:pt x="15168789" y="10565636"/>
                  </a:lnTo>
                  <a:cubicBezTo>
                    <a:pt x="15168789" y="10601196"/>
                    <a:pt x="15139578" y="10630406"/>
                    <a:pt x="15104019" y="10630406"/>
                  </a:cubicBezTo>
                  <a:lnTo>
                    <a:pt x="124460" y="10630406"/>
                  </a:lnTo>
                  <a:cubicBezTo>
                    <a:pt x="88900" y="10630406"/>
                    <a:pt x="59690" y="10601196"/>
                    <a:pt x="59690" y="1056563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104019" y="59690"/>
                  </a:lnTo>
                  <a:moveTo>
                    <a:pt x="1510401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565636"/>
                  </a:lnTo>
                  <a:cubicBezTo>
                    <a:pt x="0" y="10634217"/>
                    <a:pt x="55880" y="10690096"/>
                    <a:pt x="124460" y="10690096"/>
                  </a:cubicBezTo>
                  <a:lnTo>
                    <a:pt x="15104019" y="10690096"/>
                  </a:lnTo>
                  <a:cubicBezTo>
                    <a:pt x="15172598" y="10690096"/>
                    <a:pt x="15228478" y="10634217"/>
                    <a:pt x="15228478" y="10565636"/>
                  </a:cubicBezTo>
                  <a:lnTo>
                    <a:pt x="15228478" y="124460"/>
                  </a:lnTo>
                  <a:cubicBezTo>
                    <a:pt x="15228478" y="55880"/>
                    <a:pt x="15172598" y="0"/>
                    <a:pt x="1510401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2275609" y="1579386"/>
            <a:ext cx="14081279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3995677">
            <a:off x="-81553" y="7220088"/>
            <a:ext cx="2983210" cy="2891002"/>
          </a:xfrm>
          <a:custGeom>
            <a:avLst/>
            <a:gdLst/>
            <a:ahLst/>
            <a:cxnLst/>
            <a:rect r="r" b="b" t="t" l="l"/>
            <a:pathLst>
              <a:path h="2891002" w="2983210">
                <a:moveTo>
                  <a:pt x="0" y="0"/>
                </a:moveTo>
                <a:lnTo>
                  <a:pt x="2983210" y="0"/>
                </a:lnTo>
                <a:lnTo>
                  <a:pt x="2983210" y="2891003"/>
                </a:lnTo>
                <a:lnTo>
                  <a:pt x="0" y="289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81654" y="1951543"/>
            <a:ext cx="11669190" cy="7790510"/>
          </a:xfrm>
          <a:custGeom>
            <a:avLst/>
            <a:gdLst/>
            <a:ahLst/>
            <a:cxnLst/>
            <a:rect r="r" b="b" t="t" l="l"/>
            <a:pathLst>
              <a:path h="7790510" w="11669190">
                <a:moveTo>
                  <a:pt x="0" y="0"/>
                </a:moveTo>
                <a:lnTo>
                  <a:pt x="11669189" y="0"/>
                </a:lnTo>
                <a:lnTo>
                  <a:pt x="11669189" y="7790510"/>
                </a:lnTo>
                <a:lnTo>
                  <a:pt x="0" y="77905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55973" y="508743"/>
            <a:ext cx="7908466" cy="71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  <a:spcBef>
                <a:spcPct val="0"/>
              </a:spcBef>
            </a:pPr>
            <a:r>
              <a:rPr lang="en-US" sz="4156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RESERVATIONS PER MONTH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02965" y="1314700"/>
            <a:ext cx="10498909" cy="7657600"/>
            <a:chOff x="0" y="0"/>
            <a:chExt cx="14302208" cy="104316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750" y="31750"/>
              <a:ext cx="14238708" cy="10368115"/>
            </a:xfrm>
            <a:custGeom>
              <a:avLst/>
              <a:gdLst/>
              <a:ahLst/>
              <a:cxnLst/>
              <a:rect r="r" b="b" t="t" l="l"/>
              <a:pathLst>
                <a:path h="10368115" w="14238708">
                  <a:moveTo>
                    <a:pt x="14145997" y="10368115"/>
                  </a:moveTo>
                  <a:lnTo>
                    <a:pt x="92710" y="10368115"/>
                  </a:lnTo>
                  <a:cubicBezTo>
                    <a:pt x="41910" y="10368115"/>
                    <a:pt x="0" y="10326205"/>
                    <a:pt x="0" y="1027540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4144727" y="0"/>
                  </a:lnTo>
                  <a:cubicBezTo>
                    <a:pt x="14195527" y="0"/>
                    <a:pt x="14237438" y="41910"/>
                    <a:pt x="14237438" y="92710"/>
                  </a:cubicBezTo>
                  <a:lnTo>
                    <a:pt x="14237438" y="10274136"/>
                  </a:lnTo>
                  <a:cubicBezTo>
                    <a:pt x="14238708" y="10326205"/>
                    <a:pt x="14196797" y="10368115"/>
                    <a:pt x="14145997" y="10368115"/>
                  </a:cubicBezTo>
                  <a:close/>
                </a:path>
              </a:pathLst>
            </a:custGeom>
            <a:solidFill>
              <a:srgbClr val="FFFEF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302208" cy="10431616"/>
            </a:xfrm>
            <a:custGeom>
              <a:avLst/>
              <a:gdLst/>
              <a:ahLst/>
              <a:cxnLst/>
              <a:rect r="r" b="b" t="t" l="l"/>
              <a:pathLst>
                <a:path h="10431616" w="14302208">
                  <a:moveTo>
                    <a:pt x="14177747" y="59690"/>
                  </a:moveTo>
                  <a:cubicBezTo>
                    <a:pt x="14213308" y="59690"/>
                    <a:pt x="14242518" y="88900"/>
                    <a:pt x="14242518" y="124460"/>
                  </a:cubicBezTo>
                  <a:lnTo>
                    <a:pt x="14242518" y="10307155"/>
                  </a:lnTo>
                  <a:cubicBezTo>
                    <a:pt x="14242518" y="10342716"/>
                    <a:pt x="14213308" y="10371926"/>
                    <a:pt x="14177747" y="10371926"/>
                  </a:cubicBezTo>
                  <a:lnTo>
                    <a:pt x="124460" y="10371926"/>
                  </a:lnTo>
                  <a:cubicBezTo>
                    <a:pt x="88900" y="10371926"/>
                    <a:pt x="59690" y="10342716"/>
                    <a:pt x="59690" y="1030715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4177749" y="59690"/>
                  </a:lnTo>
                  <a:moveTo>
                    <a:pt x="1417774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307155"/>
                  </a:lnTo>
                  <a:cubicBezTo>
                    <a:pt x="0" y="10375736"/>
                    <a:pt x="55880" y="10431616"/>
                    <a:pt x="124460" y="10431616"/>
                  </a:cubicBezTo>
                  <a:lnTo>
                    <a:pt x="14177749" y="10431616"/>
                  </a:lnTo>
                  <a:cubicBezTo>
                    <a:pt x="14246327" y="10431616"/>
                    <a:pt x="14302208" y="10375736"/>
                    <a:pt x="14302208" y="10307155"/>
                  </a:cubicBezTo>
                  <a:lnTo>
                    <a:pt x="14302208" y="124460"/>
                  </a:lnTo>
                  <a:cubicBezTo>
                    <a:pt x="14302208" y="55880"/>
                    <a:pt x="14246327" y="0"/>
                    <a:pt x="14177749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49133" y="364943"/>
            <a:ext cx="7628315" cy="9557115"/>
          </a:xfrm>
          <a:custGeom>
            <a:avLst/>
            <a:gdLst/>
            <a:ahLst/>
            <a:cxnLst/>
            <a:rect r="r" b="b" t="t" l="l"/>
            <a:pathLst>
              <a:path h="9557115" w="7628315">
                <a:moveTo>
                  <a:pt x="0" y="0"/>
                </a:moveTo>
                <a:lnTo>
                  <a:pt x="7628316" y="0"/>
                </a:lnTo>
                <a:lnTo>
                  <a:pt x="7628316" y="9557114"/>
                </a:lnTo>
                <a:lnTo>
                  <a:pt x="0" y="9557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92272" y="6178491"/>
            <a:ext cx="4194128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K VALUE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04126" y="2817129"/>
            <a:ext cx="7648836" cy="47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1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Classify the booking status (confirmed, not confirmed)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568932">
            <a:off x="11437677" y="7714166"/>
            <a:ext cx="1144336" cy="1640625"/>
          </a:xfrm>
          <a:custGeom>
            <a:avLst/>
            <a:gdLst/>
            <a:ahLst/>
            <a:cxnLst/>
            <a:rect r="r" b="b" t="t" l="l"/>
            <a:pathLst>
              <a:path h="1640625" w="1144336">
                <a:moveTo>
                  <a:pt x="0" y="0"/>
                </a:moveTo>
                <a:lnTo>
                  <a:pt x="1144337" y="0"/>
                </a:lnTo>
                <a:lnTo>
                  <a:pt x="1144337" y="1640626"/>
                </a:lnTo>
                <a:lnTo>
                  <a:pt x="0" y="1640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027046">
            <a:off x="16282896" y="916013"/>
            <a:ext cx="1514128" cy="1379233"/>
          </a:xfrm>
          <a:custGeom>
            <a:avLst/>
            <a:gdLst/>
            <a:ahLst/>
            <a:cxnLst/>
            <a:rect r="r" b="b" t="t" l="l"/>
            <a:pathLst>
              <a:path h="1379233" w="1514128">
                <a:moveTo>
                  <a:pt x="0" y="0"/>
                </a:moveTo>
                <a:lnTo>
                  <a:pt x="1514129" y="0"/>
                </a:lnTo>
                <a:lnTo>
                  <a:pt x="1514129" y="1379234"/>
                </a:lnTo>
                <a:lnTo>
                  <a:pt x="0" y="1379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09010">
            <a:off x="1758705" y="422382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-466770">
            <a:off x="1456657" y="3124425"/>
            <a:ext cx="4579927" cy="56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1"/>
              </a:lnSpc>
            </a:pPr>
            <a:r>
              <a:rPr lang="en-US" sz="37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K nearest neigbour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80955" y="6801427"/>
            <a:ext cx="3846068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9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n neighbors = 7</a:t>
            </a:r>
          </a:p>
        </p:txBody>
      </p:sp>
      <p:sp>
        <p:nvSpPr>
          <p:cNvPr name="TextBox 13" id="13"/>
          <p:cNvSpPr txBox="true"/>
          <p:nvPr/>
        </p:nvSpPr>
        <p:spPr>
          <a:xfrm rot="-466770">
            <a:off x="1259140" y="2121139"/>
            <a:ext cx="4768296" cy="99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1"/>
              </a:lnSpc>
              <a:spcBef>
                <a:spcPct val="0"/>
              </a:spcBef>
            </a:pPr>
            <a:r>
              <a:rPr lang="en-US" sz="5757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KNN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92272" y="4887216"/>
            <a:ext cx="4194128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TEST- TRAIN SPLIT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34416" y="1820972"/>
            <a:ext cx="4194128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23" indent="-496562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MISSION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45832" y="4959606"/>
            <a:ext cx="4194128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29" indent="-388614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METRIC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80955" y="5519677"/>
            <a:ext cx="3928891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799">
                <a:solidFill>
                  <a:srgbClr val="000000"/>
                </a:solidFill>
                <a:latin typeface="Handy Casual"/>
                <a:ea typeface="Handy Casual"/>
                <a:cs typeface="Handy Casual"/>
                <a:sym typeface="Handy Casual"/>
              </a:rPr>
              <a:t>test size = 20%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86220" y="5592067"/>
            <a:ext cx="3846068" cy="96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3299">
                <a:solidFill>
                  <a:srgbClr val="1A1A1A"/>
                </a:solidFill>
                <a:latin typeface="Handy Casual"/>
                <a:ea typeface="Handy Casual"/>
                <a:cs typeface="Handy Casual"/>
                <a:sym typeface="Handy Casual"/>
              </a:rPr>
              <a:t>Accuracy: 81.18%</a:t>
            </a:r>
          </a:p>
          <a:p>
            <a:pPr algn="l">
              <a:lnSpc>
                <a:spcPts val="3761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42707" y="1589776"/>
            <a:ext cx="9699658" cy="3103890"/>
          </a:xfrm>
          <a:custGeom>
            <a:avLst/>
            <a:gdLst/>
            <a:ahLst/>
            <a:cxnLst/>
            <a:rect r="r" b="b" t="t" l="l"/>
            <a:pathLst>
              <a:path h="3103890" w="9699658">
                <a:moveTo>
                  <a:pt x="0" y="0"/>
                </a:moveTo>
                <a:lnTo>
                  <a:pt x="9699657" y="0"/>
                </a:lnTo>
                <a:lnTo>
                  <a:pt x="9699657" y="3103891"/>
                </a:lnTo>
                <a:lnTo>
                  <a:pt x="0" y="3103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66726">
            <a:off x="4761997" y="2388388"/>
            <a:ext cx="9288045" cy="1344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  <a:spcBef>
                <a:spcPct val="0"/>
              </a:spcBef>
            </a:pPr>
            <a:r>
              <a:rPr lang="en-US" sz="7799" spc="304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CONCLUSIONS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538197" y="3444543"/>
            <a:ext cx="2704795" cy="1249123"/>
          </a:xfrm>
          <a:custGeom>
            <a:avLst/>
            <a:gdLst/>
            <a:ahLst/>
            <a:cxnLst/>
            <a:rect r="r" b="b" t="t" l="l"/>
            <a:pathLst>
              <a:path h="1249123" w="2704795">
                <a:moveTo>
                  <a:pt x="0" y="0"/>
                </a:moveTo>
                <a:lnTo>
                  <a:pt x="2704795" y="0"/>
                </a:lnTo>
                <a:lnTo>
                  <a:pt x="2704795" y="1249124"/>
                </a:lnTo>
                <a:lnTo>
                  <a:pt x="0" y="1249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91967">
            <a:off x="4392492" y="950145"/>
            <a:ext cx="2241878" cy="2042147"/>
          </a:xfrm>
          <a:custGeom>
            <a:avLst/>
            <a:gdLst/>
            <a:ahLst/>
            <a:cxnLst/>
            <a:rect r="r" b="b" t="t" l="l"/>
            <a:pathLst>
              <a:path h="2042147" w="2241878">
                <a:moveTo>
                  <a:pt x="0" y="0"/>
                </a:moveTo>
                <a:lnTo>
                  <a:pt x="2241878" y="0"/>
                </a:lnTo>
                <a:lnTo>
                  <a:pt x="2241878" y="2042147"/>
                </a:lnTo>
                <a:lnTo>
                  <a:pt x="0" y="2042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4706294">
            <a:off x="-104297" y="1286525"/>
            <a:ext cx="3895386" cy="4128059"/>
          </a:xfrm>
          <a:custGeom>
            <a:avLst/>
            <a:gdLst/>
            <a:ahLst/>
            <a:cxnLst/>
            <a:rect r="r" b="b" t="t" l="l"/>
            <a:pathLst>
              <a:path h="4128059" w="3895386">
                <a:moveTo>
                  <a:pt x="0" y="4128058"/>
                </a:moveTo>
                <a:lnTo>
                  <a:pt x="3895387" y="4128058"/>
                </a:lnTo>
                <a:lnTo>
                  <a:pt x="3895387" y="0"/>
                </a:lnTo>
                <a:lnTo>
                  <a:pt x="0" y="0"/>
                </a:lnTo>
                <a:lnTo>
                  <a:pt x="0" y="412805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568932">
            <a:off x="15725241" y="2538573"/>
            <a:ext cx="1447775" cy="2075662"/>
          </a:xfrm>
          <a:custGeom>
            <a:avLst/>
            <a:gdLst/>
            <a:ahLst/>
            <a:cxnLst/>
            <a:rect r="r" b="b" t="t" l="l"/>
            <a:pathLst>
              <a:path h="2075662" w="1447775">
                <a:moveTo>
                  <a:pt x="0" y="0"/>
                </a:moveTo>
                <a:lnTo>
                  <a:pt x="1447774" y="0"/>
                </a:lnTo>
                <a:lnTo>
                  <a:pt x="1447774" y="2075662"/>
                </a:lnTo>
                <a:lnTo>
                  <a:pt x="0" y="2075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38197" y="0"/>
            <a:ext cx="10083238" cy="1393320"/>
          </a:xfrm>
          <a:custGeom>
            <a:avLst/>
            <a:gdLst/>
            <a:ahLst/>
            <a:cxnLst/>
            <a:rect r="r" b="b" t="t" l="l"/>
            <a:pathLst>
              <a:path h="1393320" w="10083238">
                <a:moveTo>
                  <a:pt x="0" y="0"/>
                </a:moveTo>
                <a:lnTo>
                  <a:pt x="10083238" y="0"/>
                </a:lnTo>
                <a:lnTo>
                  <a:pt x="10083238" y="1393320"/>
                </a:lnTo>
                <a:lnTo>
                  <a:pt x="0" y="13933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4098675" y="8905418"/>
            <a:ext cx="9279203" cy="2078243"/>
          </a:xfrm>
          <a:custGeom>
            <a:avLst/>
            <a:gdLst/>
            <a:ahLst/>
            <a:cxnLst/>
            <a:rect r="r" b="b" t="t" l="l"/>
            <a:pathLst>
              <a:path h="2078243" w="9279203">
                <a:moveTo>
                  <a:pt x="0" y="0"/>
                </a:moveTo>
                <a:lnTo>
                  <a:pt x="9279203" y="0"/>
                </a:lnTo>
                <a:lnTo>
                  <a:pt x="9279203" y="2078242"/>
                </a:lnTo>
                <a:lnTo>
                  <a:pt x="0" y="20782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62081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88635" y="5469890"/>
            <a:ext cx="12809290" cy="378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The average price is 100$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The average lead time is 75 seconds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The online bookings are the most profitable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There is no correlation between numerical features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The confirmed bookings are double the unconfirmed ones.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The corporate booking have the lowest cancellation rates.</a:t>
            </a:r>
          </a:p>
          <a:p>
            <a:pPr algn="l" marL="669291" indent="-334646" lvl="1">
              <a:lnSpc>
                <a:spcPts val="4340"/>
              </a:lnSpc>
              <a:spcBef>
                <a:spcPct val="0"/>
              </a:spcBef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Krabuler"/>
                <a:ea typeface="Krabuler"/>
                <a:cs typeface="Krabuler"/>
                <a:sym typeface="Krabuler"/>
              </a:rPr>
              <a:t>Room_type 1 has the highest booked reservation and is the most predomint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9223231" y="8895219"/>
            <a:ext cx="11552272" cy="1596314"/>
          </a:xfrm>
          <a:custGeom>
            <a:avLst/>
            <a:gdLst/>
            <a:ahLst/>
            <a:cxnLst/>
            <a:rect r="r" b="b" t="t" l="l"/>
            <a:pathLst>
              <a:path h="1596314" w="11552272">
                <a:moveTo>
                  <a:pt x="11552272" y="0"/>
                </a:moveTo>
                <a:lnTo>
                  <a:pt x="0" y="0"/>
                </a:lnTo>
                <a:lnTo>
                  <a:pt x="0" y="1596314"/>
                </a:lnTo>
                <a:lnTo>
                  <a:pt x="11552272" y="1596314"/>
                </a:lnTo>
                <a:lnTo>
                  <a:pt x="115522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649686" y="-149539"/>
            <a:ext cx="11546413" cy="1595504"/>
          </a:xfrm>
          <a:custGeom>
            <a:avLst/>
            <a:gdLst/>
            <a:ahLst/>
            <a:cxnLst/>
            <a:rect r="r" b="b" t="t" l="l"/>
            <a:pathLst>
              <a:path h="1595504" w="11546413">
                <a:moveTo>
                  <a:pt x="11546413" y="0"/>
                </a:moveTo>
                <a:lnTo>
                  <a:pt x="0" y="0"/>
                </a:lnTo>
                <a:lnTo>
                  <a:pt x="0" y="1595505"/>
                </a:lnTo>
                <a:lnTo>
                  <a:pt x="11546413" y="1595505"/>
                </a:lnTo>
                <a:lnTo>
                  <a:pt x="115464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91967">
            <a:off x="4366081" y="1559751"/>
            <a:ext cx="1707111" cy="1555022"/>
          </a:xfrm>
          <a:custGeom>
            <a:avLst/>
            <a:gdLst/>
            <a:ahLst/>
            <a:cxnLst/>
            <a:rect r="r" b="b" t="t" l="l"/>
            <a:pathLst>
              <a:path h="1555022" w="1707111">
                <a:moveTo>
                  <a:pt x="0" y="0"/>
                </a:moveTo>
                <a:lnTo>
                  <a:pt x="1707110" y="0"/>
                </a:lnTo>
                <a:lnTo>
                  <a:pt x="1707110" y="1555023"/>
                </a:lnTo>
                <a:lnTo>
                  <a:pt x="0" y="1555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12426" y="1028700"/>
            <a:ext cx="3634128" cy="4158041"/>
          </a:xfrm>
          <a:custGeom>
            <a:avLst/>
            <a:gdLst/>
            <a:ahLst/>
            <a:cxnLst/>
            <a:rect r="r" b="b" t="t" l="l"/>
            <a:pathLst>
              <a:path h="4158041" w="3634128">
                <a:moveTo>
                  <a:pt x="0" y="0"/>
                </a:moveTo>
                <a:lnTo>
                  <a:pt x="3634128" y="0"/>
                </a:lnTo>
                <a:lnTo>
                  <a:pt x="3634128" y="4158041"/>
                </a:lnTo>
                <a:lnTo>
                  <a:pt x="0" y="41580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1129629">
            <a:off x="1530356" y="4116826"/>
            <a:ext cx="3895386" cy="4128059"/>
          </a:xfrm>
          <a:custGeom>
            <a:avLst/>
            <a:gdLst/>
            <a:ahLst/>
            <a:cxnLst/>
            <a:rect r="r" b="b" t="t" l="l"/>
            <a:pathLst>
              <a:path h="4128059" w="3895386">
                <a:moveTo>
                  <a:pt x="0" y="4128058"/>
                </a:moveTo>
                <a:lnTo>
                  <a:pt x="3895386" y="4128058"/>
                </a:lnTo>
                <a:lnTo>
                  <a:pt x="3895386" y="0"/>
                </a:lnTo>
                <a:lnTo>
                  <a:pt x="0" y="0"/>
                </a:lnTo>
                <a:lnTo>
                  <a:pt x="0" y="412805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568932">
            <a:off x="15591427" y="5685088"/>
            <a:ext cx="1480813" cy="2123030"/>
          </a:xfrm>
          <a:custGeom>
            <a:avLst/>
            <a:gdLst/>
            <a:ahLst/>
            <a:cxnLst/>
            <a:rect r="r" b="b" t="t" l="l"/>
            <a:pathLst>
              <a:path h="2123030" w="1480813">
                <a:moveTo>
                  <a:pt x="0" y="0"/>
                </a:moveTo>
                <a:lnTo>
                  <a:pt x="1480813" y="0"/>
                </a:lnTo>
                <a:lnTo>
                  <a:pt x="1480813" y="2123030"/>
                </a:lnTo>
                <a:lnTo>
                  <a:pt x="0" y="21230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55707" y="2879051"/>
            <a:ext cx="8376587" cy="549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THANK</a:t>
            </a:r>
          </a:p>
          <a:p>
            <a:pPr algn="ctr">
              <a:lnSpc>
                <a:spcPts val="21650"/>
              </a:lnSpc>
            </a:pPr>
            <a:r>
              <a:rPr lang="en-US" sz="18504" spc="407">
                <a:solidFill>
                  <a:srgbClr val="000000"/>
                </a:solidFill>
                <a:latin typeface="Pompiere"/>
                <a:ea typeface="Pompiere"/>
                <a:cs typeface="Pompiere"/>
                <a:sym typeface="Pompiere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DAGeXLFP5wI</dc:identifier>
  <dcterms:modified xsi:type="dcterms:W3CDTF">2011-08-01T06:04:30Z</dcterms:modified>
  <cp:revision>1</cp:revision>
  <dc:title>Cellalu Task No. 1 _ Team 3</dc:title>
</cp:coreProperties>
</file>